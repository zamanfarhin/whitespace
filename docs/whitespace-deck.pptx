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Tedlar is a protective film for outdoor graphics. The sales team's problem is who to call. This automates finding, qualifying, and writing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Regex handles what a pattern can settle. The model places names regex can't read, like ORAFOL and Drytac. Only survivors reach the stage that pays for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for two axes. Fit alone cannot tell an open account from one a competitor already owns, and those need different sales motions.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leverage signal is not just a score, it decides what the first sentence of the email says. That is the difference between personalization and mail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is also what makes the dashboard sliders work: the judgement is fixed, the weighting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writer checking its own work agrees with itself, which is why it is two separate calls. If the verifier fails to answer, the draft is flagged rather than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Clay is specified with its field map and the four steps to make it live. Precedence is already resolved: a Clay figure outranks a web reading but not a company's own published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limits is the point. A system that cannot say what it does not know is one a sales team stops trusting after the first bad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A"/>
        </a:solidFill>
      </p:bgPr>
    </p:bg>
    <p:spTree>
      <p:nvGrpSpPr>
        <p:cNvPr id="1" name=""/>
        <p:cNvGrpSpPr/>
        <p:nvPr/>
      </p:nvGrpSpPr>
      <p:grpSpPr>
        <a:xfrm>
          <a:off x="0" y="0"/>
          <a:ext cx="0" cy="0"/>
          <a:chOff x="0" y="0"/>
          <a:chExt cx="0" cy="0"/>
        </a:xfrm>
      </p:grpSpPr>
      <p:sp>
        <p:nvSpPr>
          <p:cNvPr id="2" name="Text 0"/>
          <p:cNvSpPr/>
          <p:nvPr/>
        </p:nvSpPr>
        <p:spPr>
          <a:xfrm>
            <a:off x="777240" y="2057400"/>
            <a:ext cx="9144000" cy="118872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white</a:t>
            </a:r>
            <a:pPr indent="0" marL="0">
              <a:buNone/>
            </a:pPr>
            <a:r>
              <a:rPr lang="en-US" sz="6600" b="1" dirty="0">
                <a:solidFill>
                  <a:srgbClr val="9C90F0"/>
                </a:solidFill>
                <a:latin typeface="Arial" pitchFamily="34" charset="0"/>
                <a:ea typeface="Arial" pitchFamily="34" charset="-122"/>
                <a:cs typeface="Arial" pitchFamily="34" charset="-120"/>
              </a:rPr>
              <a:t>space</a:t>
            </a:r>
            <a:endParaRPr lang="en-US" sz="6600" dirty="0"/>
          </a:p>
        </p:txBody>
      </p:sp>
      <p:sp>
        <p:nvSpPr>
          <p:cNvPr id="3" name="Text 1"/>
          <p:cNvSpPr/>
          <p:nvPr/>
        </p:nvSpPr>
        <p:spPr>
          <a:xfrm>
            <a:off x="777240" y="3246120"/>
            <a:ext cx="10058400" cy="320040"/>
          </a:xfrm>
          <a:prstGeom prst="rect">
            <a:avLst/>
          </a:prstGeom>
          <a:noFill/>
          <a:ln/>
        </p:spPr>
        <p:txBody>
          <a:bodyPr wrap="square" lIns="0" tIns="0" rIns="0" bIns="0" rtlCol="0" anchor="ctr"/>
          <a:lstStyle/>
          <a:p>
            <a:pPr indent="0" marL="0">
              <a:buNone/>
            </a:pPr>
            <a:r>
              <a:rPr lang="en-US" sz="1300" spc="140" kern="0" dirty="0">
                <a:solidFill>
                  <a:srgbClr val="9AA0A8"/>
                </a:solidFill>
                <a:latin typeface="Courier New" pitchFamily="34" charset="0"/>
                <a:ea typeface="Courier New" pitchFamily="34" charset="-122"/>
                <a:cs typeface="Courier New" pitchFamily="34" charset="-120"/>
              </a:rPr>
              <a:t>AI LEAD GENERATION AGENTS  ·  DUPONT TEDLAR  ·  GRAPHICS &amp; SIGNAGE</a:t>
            </a:r>
            <a:endParaRPr lang="en-US" sz="1300" dirty="0"/>
          </a:p>
        </p:txBody>
      </p:sp>
      <p:sp>
        <p:nvSpPr>
          <p:cNvPr id="4" name="Text 2"/>
          <p:cNvSpPr/>
          <p:nvPr/>
        </p:nvSpPr>
        <p:spPr>
          <a:xfrm>
            <a:off x="777240" y="3931920"/>
            <a:ext cx="7863840" cy="1005840"/>
          </a:xfrm>
          <a:prstGeom prst="rect">
            <a:avLst/>
          </a:prstGeom>
          <a:noFill/>
          <a:ln/>
        </p:spPr>
        <p:txBody>
          <a:bodyPr wrap="square" lIns="0" tIns="0" rIns="0" bIns="0" rtlCol="0" anchor="ctr"/>
          <a:lstStyle/>
          <a:p>
            <a:pPr indent="0" marL="0">
              <a:lnSpc>
                <a:spcPts val="2400"/>
              </a:lnSpc>
              <a:buNone/>
            </a:pPr>
            <a:r>
              <a:rPr lang="en-US" sz="1600" dirty="0">
                <a:solidFill>
                  <a:srgbClr val="C9CDD2"/>
                </a:solidFill>
                <a:latin typeface="Arial" pitchFamily="34" charset="0"/>
                <a:ea typeface="Arial" pitchFamily="34" charset="-122"/>
                <a:cs typeface="Arial" pitchFamily="34" charset="-120"/>
              </a:rPr>
              <a:t>819 companies out of public trade show data. 26 qualified against a rubric a sales lead can edit. Every outreach draft checked against its own evidence before it can be sent.</a:t>
            </a:r>
            <a:endParaRPr lang="en-US" sz="1600" dirty="0"/>
          </a:p>
        </p:txBody>
      </p:sp>
      <p:sp>
        <p:nvSpPr>
          <p:cNvPr id="5" name="Text 3"/>
          <p:cNvSpPr/>
          <p:nvPr/>
        </p:nvSpPr>
        <p:spPr>
          <a:xfrm>
            <a:off x="777240" y="5349240"/>
            <a:ext cx="2103120" cy="457200"/>
          </a:xfrm>
          <a:prstGeom prst="rect">
            <a:avLst/>
          </a:prstGeom>
          <a:noFill/>
          <a:ln/>
        </p:spPr>
        <p:txBody>
          <a:bodyPr wrap="square" lIns="0" tIns="0" rIns="0" bIns="0" rtlCol="0" anchor="ctr"/>
          <a:lstStyle/>
          <a:p>
            <a:pPr indent="0" marL="0">
              <a:buNone/>
            </a:pPr>
            <a:r>
              <a:rPr lang="en-US" sz="2800" dirty="0">
                <a:solidFill>
                  <a:srgbClr val="FFFFFF"/>
                </a:solidFill>
                <a:latin typeface="Courier New" pitchFamily="34" charset="0"/>
                <a:ea typeface="Courier New" pitchFamily="34" charset="-122"/>
                <a:cs typeface="Courier New" pitchFamily="34" charset="-120"/>
              </a:rPr>
              <a:t>$0.42</a:t>
            </a:r>
            <a:endParaRPr lang="en-US" sz="2800" dirty="0"/>
          </a:p>
        </p:txBody>
      </p:sp>
      <p:sp>
        <p:nvSpPr>
          <p:cNvPr id="6" name="Text 4"/>
          <p:cNvSpPr/>
          <p:nvPr/>
        </p:nvSpPr>
        <p:spPr>
          <a:xfrm>
            <a:off x="777240" y="5806440"/>
            <a:ext cx="2103120" cy="274320"/>
          </a:xfrm>
          <a:prstGeom prst="rect">
            <a:avLst/>
          </a:prstGeom>
          <a:noFill/>
          <a:ln/>
        </p:spPr>
        <p:txBody>
          <a:bodyPr wrap="square" lIns="0" tIns="0" rIns="0" bIns="0" rtlCol="0" anchor="ctr"/>
          <a:lstStyle/>
          <a:p>
            <a:pPr indent="0" marL="0">
              <a:buNone/>
            </a:pPr>
            <a:r>
              <a:rPr lang="en-US" sz="1050" spc="120" kern="0" dirty="0">
                <a:solidFill>
                  <a:srgbClr val="7D848D"/>
                </a:solidFill>
                <a:latin typeface="Courier New" pitchFamily="34" charset="0"/>
                <a:ea typeface="Courier New" pitchFamily="34" charset="-122"/>
                <a:cs typeface="Courier New" pitchFamily="34" charset="-120"/>
              </a:rPr>
              <a:t>per qualified lead</a:t>
            </a:r>
            <a:endParaRPr lang="en-US" sz="1050" dirty="0"/>
          </a:p>
        </p:txBody>
      </p:sp>
      <p:sp>
        <p:nvSpPr>
          <p:cNvPr id="7" name="Text 5"/>
          <p:cNvSpPr/>
          <p:nvPr/>
        </p:nvSpPr>
        <p:spPr>
          <a:xfrm>
            <a:off x="3108960" y="5349240"/>
            <a:ext cx="2103120" cy="457200"/>
          </a:xfrm>
          <a:prstGeom prst="rect">
            <a:avLst/>
          </a:prstGeom>
          <a:noFill/>
          <a:ln/>
        </p:spPr>
        <p:txBody>
          <a:bodyPr wrap="square" lIns="0" tIns="0" rIns="0" bIns="0" rtlCol="0" anchor="ctr"/>
          <a:lstStyle/>
          <a:p>
            <a:pPr indent="0" marL="0">
              <a:buNone/>
            </a:pPr>
            <a:r>
              <a:rPr lang="en-US" sz="2800" dirty="0">
                <a:solidFill>
                  <a:srgbClr val="FFFFFF"/>
                </a:solidFill>
                <a:latin typeface="Courier New" pitchFamily="34" charset="0"/>
                <a:ea typeface="Courier New" pitchFamily="34" charset="-122"/>
                <a:cs typeface="Courier New" pitchFamily="34" charset="-120"/>
              </a:rPr>
              <a:t>26</a:t>
            </a:r>
            <a:endParaRPr lang="en-US" sz="2800" dirty="0"/>
          </a:p>
        </p:txBody>
      </p:sp>
      <p:sp>
        <p:nvSpPr>
          <p:cNvPr id="8" name="Text 6"/>
          <p:cNvSpPr/>
          <p:nvPr/>
        </p:nvSpPr>
        <p:spPr>
          <a:xfrm>
            <a:off x="3108960" y="5806440"/>
            <a:ext cx="2103120" cy="274320"/>
          </a:xfrm>
          <a:prstGeom prst="rect">
            <a:avLst/>
          </a:prstGeom>
          <a:noFill/>
          <a:ln/>
        </p:spPr>
        <p:txBody>
          <a:bodyPr wrap="square" lIns="0" tIns="0" rIns="0" bIns="0" rtlCol="0" anchor="ctr"/>
          <a:lstStyle/>
          <a:p>
            <a:pPr indent="0" marL="0">
              <a:buNone/>
            </a:pPr>
            <a:r>
              <a:rPr lang="en-US" sz="1050" spc="120" kern="0" dirty="0">
                <a:solidFill>
                  <a:srgbClr val="7D848D"/>
                </a:solidFill>
                <a:latin typeface="Courier New" pitchFamily="34" charset="0"/>
                <a:ea typeface="Courier New" pitchFamily="34" charset="-122"/>
                <a:cs typeface="Courier New" pitchFamily="34" charset="-120"/>
              </a:rPr>
              <a:t>with drafted email</a:t>
            </a:r>
            <a:endParaRPr lang="en-US" sz="1050" dirty="0"/>
          </a:p>
        </p:txBody>
      </p:sp>
      <p:sp>
        <p:nvSpPr>
          <p:cNvPr id="9" name="Text 7"/>
          <p:cNvSpPr/>
          <p:nvPr/>
        </p:nvSpPr>
        <p:spPr>
          <a:xfrm>
            <a:off x="5440680" y="5349240"/>
            <a:ext cx="2103120" cy="457200"/>
          </a:xfrm>
          <a:prstGeom prst="rect">
            <a:avLst/>
          </a:prstGeom>
          <a:noFill/>
          <a:ln/>
        </p:spPr>
        <p:txBody>
          <a:bodyPr wrap="square" lIns="0" tIns="0" rIns="0" bIns="0" rtlCol="0" anchor="ctr"/>
          <a:lstStyle/>
          <a:p>
            <a:pPr indent="0" marL="0">
              <a:buNone/>
            </a:pPr>
            <a:r>
              <a:rPr lang="en-US" sz="2800" dirty="0">
                <a:solidFill>
                  <a:srgbClr val="FFFFFF"/>
                </a:solidFill>
                <a:latin typeface="Courier New" pitchFamily="34" charset="0"/>
                <a:ea typeface="Courier New" pitchFamily="34" charset="-122"/>
                <a:cs typeface="Courier New" pitchFamily="34" charset="-120"/>
              </a:rPr>
              <a:t>~2 days</a:t>
            </a:r>
            <a:endParaRPr lang="en-US" sz="2800" dirty="0"/>
          </a:p>
        </p:txBody>
      </p:sp>
      <p:sp>
        <p:nvSpPr>
          <p:cNvPr id="10" name="Text 8"/>
          <p:cNvSpPr/>
          <p:nvPr/>
        </p:nvSpPr>
        <p:spPr>
          <a:xfrm>
            <a:off x="5440680" y="5806440"/>
            <a:ext cx="2103120" cy="274320"/>
          </a:xfrm>
          <a:prstGeom prst="rect">
            <a:avLst/>
          </a:prstGeom>
          <a:noFill/>
          <a:ln/>
        </p:spPr>
        <p:txBody>
          <a:bodyPr wrap="square" lIns="0" tIns="0" rIns="0" bIns="0" rtlCol="0" anchor="ctr"/>
          <a:lstStyle/>
          <a:p>
            <a:pPr indent="0" marL="0">
              <a:buNone/>
            </a:pPr>
            <a:r>
              <a:rPr lang="en-US" sz="1050" spc="120" kern="0" dirty="0">
                <a:solidFill>
                  <a:srgbClr val="7D848D"/>
                </a:solidFill>
                <a:latin typeface="Courier New" pitchFamily="34" charset="0"/>
                <a:ea typeface="Courier New" pitchFamily="34" charset="-122"/>
                <a:cs typeface="Courier New" pitchFamily="34" charset="-120"/>
              </a:rPr>
              <a:t>of manual work</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THE PIPELINE</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3300" b="1" dirty="0">
                <a:solidFill>
                  <a:srgbClr val="14161A"/>
                </a:solidFill>
                <a:latin typeface="Arial" pitchFamily="34" charset="0"/>
                <a:ea typeface="Arial" pitchFamily="34" charset="-122"/>
                <a:cs typeface="Arial" pitchFamily="34" charset="-120"/>
              </a:rPr>
              <a:t>Each stage is cheaper than the one it feeds</a:t>
            </a:r>
            <a:endParaRPr lang="en-US" sz="3300" dirty="0"/>
          </a:p>
        </p:txBody>
      </p:sp>
      <p:sp>
        <p:nvSpPr>
          <p:cNvPr id="4" name="Text 2"/>
          <p:cNvSpPr/>
          <p:nvPr/>
        </p:nvSpPr>
        <p:spPr>
          <a:xfrm>
            <a:off x="777240" y="1691640"/>
            <a:ext cx="9692640" cy="548640"/>
          </a:xfrm>
          <a:prstGeom prst="rect">
            <a:avLst/>
          </a:prstGeom>
          <a:noFill/>
          <a:ln/>
        </p:spPr>
        <p:txBody>
          <a:bodyPr wrap="square" lIns="0" tIns="0" rIns="0" bIns="0" rtlCol="0" anchor="ctr"/>
          <a:lstStyle/>
          <a:p>
            <a:pPr indent="0" marL="0">
              <a:lnSpc>
                <a:spcPts val="2000"/>
              </a:lnSpc>
              <a:buNone/>
            </a:pPr>
            <a:r>
              <a:rPr lang="en-US" sz="1400" dirty="0">
                <a:solidFill>
                  <a:srgbClr val="4A5058"/>
                </a:solidFill>
                <a:latin typeface="Arial" pitchFamily="34" charset="0"/>
                <a:ea typeface="Arial" pitchFamily="34" charset="-122"/>
                <a:cs typeface="Arial" pitchFamily="34" charset="-120"/>
              </a:rPr>
              <a:t>Running web search on all 819 companies would have cost more than the whole project. Ordering the pipeline by cost is what makes it affordable at 819 and still affordable at 8,000.</a:t>
            </a:r>
            <a:endParaRPr lang="en-US" sz="1400" dirty="0"/>
          </a:p>
        </p:txBody>
      </p:sp>
      <p:sp>
        <p:nvSpPr>
          <p:cNvPr id="5" name="Shape 3"/>
          <p:cNvSpPr/>
          <p:nvPr/>
        </p:nvSpPr>
        <p:spPr>
          <a:xfrm>
            <a:off x="777240" y="2514600"/>
            <a:ext cx="10607040" cy="566928"/>
          </a:xfrm>
          <a:prstGeom prst="rect">
            <a:avLst/>
          </a:prstGeom>
          <a:solidFill>
            <a:srgbClr val="FFFFFF"/>
          </a:solidFill>
          <a:ln w="9525">
            <a:solidFill>
              <a:srgbClr val="D6D9D3"/>
            </a:solidFill>
            <a:prstDash val="solid"/>
          </a:ln>
        </p:spPr>
      </p:sp>
      <p:sp>
        <p:nvSpPr>
          <p:cNvPr id="6" name="Text 4"/>
          <p:cNvSpPr/>
          <p:nvPr/>
        </p:nvSpPr>
        <p:spPr>
          <a:xfrm>
            <a:off x="1005840" y="2514600"/>
            <a:ext cx="1463040" cy="566928"/>
          </a:xfrm>
          <a:prstGeom prst="rect">
            <a:avLst/>
          </a:prstGeom>
          <a:noFill/>
          <a:ln/>
        </p:spPr>
        <p:txBody>
          <a:bodyPr wrap="square" lIns="0" tIns="0" rIns="0" bIns="0" rtlCol="0" anchor="ctr"/>
          <a:lstStyle/>
          <a:p>
            <a:pPr indent="0" marL="0">
              <a:buNone/>
            </a:pPr>
            <a:r>
              <a:rPr lang="en-US" sz="1200" dirty="0">
                <a:solidFill>
                  <a:srgbClr val="14161A"/>
                </a:solidFill>
                <a:latin typeface="Courier New" pitchFamily="34" charset="0"/>
                <a:ea typeface="Courier New" pitchFamily="34" charset="-122"/>
                <a:cs typeface="Courier New" pitchFamily="34" charset="-120"/>
              </a:rPr>
              <a:t>SOURCE</a:t>
            </a:r>
            <a:endParaRPr lang="en-US" sz="1200" dirty="0"/>
          </a:p>
        </p:txBody>
      </p:sp>
      <p:sp>
        <p:nvSpPr>
          <p:cNvPr id="7" name="Text 5"/>
          <p:cNvSpPr/>
          <p:nvPr/>
        </p:nvSpPr>
        <p:spPr>
          <a:xfrm>
            <a:off x="2514600" y="2514600"/>
            <a:ext cx="822960" cy="566928"/>
          </a:xfrm>
          <a:prstGeom prst="rect">
            <a:avLst/>
          </a:prstGeom>
          <a:noFill/>
          <a:ln/>
        </p:spPr>
        <p:txBody>
          <a:bodyPr wrap="square" lIns="0" tIns="0" rIns="0" bIns="0" rtlCol="0" anchor="ctr"/>
          <a:lstStyle/>
          <a:p>
            <a:pPr indent="0" marL="0">
              <a:buNone/>
            </a:pPr>
            <a:r>
              <a:rPr lang="en-US" sz="1500" dirty="0">
                <a:solidFill>
                  <a:srgbClr val="14161A"/>
                </a:solidFill>
                <a:latin typeface="Courier New" pitchFamily="34" charset="0"/>
                <a:ea typeface="Courier New" pitchFamily="34" charset="-122"/>
                <a:cs typeface="Courier New" pitchFamily="34" charset="-120"/>
              </a:rPr>
              <a:t>819</a:t>
            </a:r>
            <a:endParaRPr lang="en-US" sz="1500" dirty="0"/>
          </a:p>
        </p:txBody>
      </p:sp>
      <p:sp>
        <p:nvSpPr>
          <p:cNvPr id="8" name="Text 6"/>
          <p:cNvSpPr/>
          <p:nvPr/>
        </p:nvSpPr>
        <p:spPr>
          <a:xfrm>
            <a:off x="3429000" y="2514600"/>
            <a:ext cx="1005840" cy="566928"/>
          </a:xfrm>
          <a:prstGeom prst="rect">
            <a:avLst/>
          </a:prstGeom>
          <a:noFill/>
          <a:ln/>
        </p:spPr>
        <p:txBody>
          <a:bodyPr wrap="square" lIns="0" tIns="0" rIns="0" bIns="0" rtlCol="0" anchor="ctr"/>
          <a:lstStyle/>
          <a:p>
            <a:pPr indent="0" marL="0">
              <a:buNone/>
            </a:pPr>
            <a:r>
              <a:rPr lang="en-US" sz="1200" dirty="0">
                <a:solidFill>
                  <a:srgbClr val="2F6B4A"/>
                </a:solidFill>
                <a:latin typeface="Courier New" pitchFamily="34" charset="0"/>
                <a:ea typeface="Courier New" pitchFamily="34" charset="-122"/>
                <a:cs typeface="Courier New" pitchFamily="34" charset="-120"/>
              </a:rPr>
              <a:t>free</a:t>
            </a:r>
            <a:endParaRPr lang="en-US" sz="1200" dirty="0"/>
          </a:p>
        </p:txBody>
      </p:sp>
      <p:sp>
        <p:nvSpPr>
          <p:cNvPr id="9" name="Text 7"/>
          <p:cNvSpPr/>
          <p:nvPr/>
        </p:nvSpPr>
        <p:spPr>
          <a:xfrm>
            <a:off x="4617720" y="2514600"/>
            <a:ext cx="6492240" cy="566928"/>
          </a:xfrm>
          <a:prstGeom prst="rect">
            <a:avLst/>
          </a:prstGeom>
          <a:noFill/>
          <a:ln/>
        </p:spPr>
        <p:txBody>
          <a:bodyPr wrap="square" lIns="0" tIns="0" rIns="0" bIns="0" rtlCol="0" anchor="ctr"/>
          <a:lstStyle/>
          <a:p>
            <a:pPr indent="0" marL="0">
              <a:buNone/>
            </a:pPr>
            <a:r>
              <a:rPr lang="en-US" sz="1250" dirty="0">
                <a:solidFill>
                  <a:srgbClr val="4A5058"/>
                </a:solidFill>
                <a:latin typeface="Arial" pitchFamily="34" charset="0"/>
                <a:ea typeface="Arial" pitchFamily="34" charset="-122"/>
                <a:cs typeface="Arial" pitchFamily="34" charset="-120"/>
              </a:rPr>
              <a:t>exhibitor directories</a:t>
            </a:r>
            <a:endParaRPr lang="en-US" sz="1250" dirty="0"/>
          </a:p>
        </p:txBody>
      </p:sp>
      <p:sp>
        <p:nvSpPr>
          <p:cNvPr id="10" name="Shape 8"/>
          <p:cNvSpPr/>
          <p:nvPr/>
        </p:nvSpPr>
        <p:spPr>
          <a:xfrm>
            <a:off x="777240" y="3172968"/>
            <a:ext cx="10607040" cy="566928"/>
          </a:xfrm>
          <a:prstGeom prst="rect">
            <a:avLst/>
          </a:prstGeom>
          <a:solidFill>
            <a:srgbClr val="FFFFFF"/>
          </a:solidFill>
          <a:ln w="9525">
            <a:solidFill>
              <a:srgbClr val="D6D9D3"/>
            </a:solidFill>
            <a:prstDash val="solid"/>
          </a:ln>
        </p:spPr>
      </p:sp>
      <p:sp>
        <p:nvSpPr>
          <p:cNvPr id="11" name="Text 9"/>
          <p:cNvSpPr/>
          <p:nvPr/>
        </p:nvSpPr>
        <p:spPr>
          <a:xfrm>
            <a:off x="1005840" y="3172968"/>
            <a:ext cx="1463040" cy="566928"/>
          </a:xfrm>
          <a:prstGeom prst="rect">
            <a:avLst/>
          </a:prstGeom>
          <a:noFill/>
          <a:ln/>
        </p:spPr>
        <p:txBody>
          <a:bodyPr wrap="square" lIns="0" tIns="0" rIns="0" bIns="0" rtlCol="0" anchor="ctr"/>
          <a:lstStyle/>
          <a:p>
            <a:pPr indent="0" marL="0">
              <a:buNone/>
            </a:pPr>
            <a:r>
              <a:rPr lang="en-US" sz="1200" dirty="0">
                <a:solidFill>
                  <a:srgbClr val="14161A"/>
                </a:solidFill>
                <a:latin typeface="Courier New" pitchFamily="34" charset="0"/>
                <a:ea typeface="Courier New" pitchFamily="34" charset="-122"/>
                <a:cs typeface="Courier New" pitchFamily="34" charset="-120"/>
              </a:rPr>
              <a:t>SCREEN</a:t>
            </a:r>
            <a:endParaRPr lang="en-US" sz="1200" dirty="0"/>
          </a:p>
        </p:txBody>
      </p:sp>
      <p:sp>
        <p:nvSpPr>
          <p:cNvPr id="12" name="Text 10"/>
          <p:cNvSpPr/>
          <p:nvPr/>
        </p:nvSpPr>
        <p:spPr>
          <a:xfrm>
            <a:off x="2514600" y="3172968"/>
            <a:ext cx="822960" cy="566928"/>
          </a:xfrm>
          <a:prstGeom prst="rect">
            <a:avLst/>
          </a:prstGeom>
          <a:noFill/>
          <a:ln/>
        </p:spPr>
        <p:txBody>
          <a:bodyPr wrap="square" lIns="0" tIns="0" rIns="0" bIns="0" rtlCol="0" anchor="ctr"/>
          <a:lstStyle/>
          <a:p>
            <a:pPr indent="0" marL="0">
              <a:buNone/>
            </a:pPr>
            <a:r>
              <a:rPr lang="en-US" sz="1500" dirty="0">
                <a:solidFill>
                  <a:srgbClr val="14161A"/>
                </a:solidFill>
                <a:latin typeface="Courier New" pitchFamily="34" charset="0"/>
                <a:ea typeface="Courier New" pitchFamily="34" charset="-122"/>
                <a:cs typeface="Courier New" pitchFamily="34" charset="-120"/>
              </a:rPr>
              <a:t>736</a:t>
            </a:r>
            <a:endParaRPr lang="en-US" sz="1500" dirty="0"/>
          </a:p>
        </p:txBody>
      </p:sp>
      <p:sp>
        <p:nvSpPr>
          <p:cNvPr id="13" name="Text 11"/>
          <p:cNvSpPr/>
          <p:nvPr/>
        </p:nvSpPr>
        <p:spPr>
          <a:xfrm>
            <a:off x="3429000" y="3172968"/>
            <a:ext cx="1005840" cy="566928"/>
          </a:xfrm>
          <a:prstGeom prst="rect">
            <a:avLst/>
          </a:prstGeom>
          <a:noFill/>
          <a:ln/>
        </p:spPr>
        <p:txBody>
          <a:bodyPr wrap="square" lIns="0" tIns="0" rIns="0" bIns="0" rtlCol="0" anchor="ctr"/>
          <a:lstStyle/>
          <a:p>
            <a:pPr indent="0" marL="0">
              <a:buNone/>
            </a:pPr>
            <a:r>
              <a:rPr lang="en-US" sz="1200" dirty="0">
                <a:solidFill>
                  <a:srgbClr val="2F6B4A"/>
                </a:solidFill>
                <a:latin typeface="Courier New" pitchFamily="34" charset="0"/>
                <a:ea typeface="Courier New" pitchFamily="34" charset="-122"/>
                <a:cs typeface="Courier New" pitchFamily="34" charset="-120"/>
              </a:rPr>
              <a:t>free</a:t>
            </a:r>
            <a:endParaRPr lang="en-US" sz="1200" dirty="0"/>
          </a:p>
        </p:txBody>
      </p:sp>
      <p:sp>
        <p:nvSpPr>
          <p:cNvPr id="14" name="Text 12"/>
          <p:cNvSpPr/>
          <p:nvPr/>
        </p:nvSpPr>
        <p:spPr>
          <a:xfrm>
            <a:off x="4617720" y="3172968"/>
            <a:ext cx="6492240" cy="566928"/>
          </a:xfrm>
          <a:prstGeom prst="rect">
            <a:avLst/>
          </a:prstGeom>
          <a:noFill/>
          <a:ln/>
        </p:spPr>
        <p:txBody>
          <a:bodyPr wrap="square" lIns="0" tIns="0" rIns="0" bIns="0" rtlCol="0" anchor="ctr"/>
          <a:lstStyle/>
          <a:p>
            <a:pPr indent="0" marL="0">
              <a:buNone/>
            </a:pPr>
            <a:r>
              <a:rPr lang="en-US" sz="1250" dirty="0">
                <a:solidFill>
                  <a:srgbClr val="4A5058"/>
                </a:solidFill>
                <a:latin typeface="Arial" pitchFamily="34" charset="0"/>
                <a:ea typeface="Arial" pitchFamily="34" charset="-122"/>
                <a:cs typeface="Arial" pitchFamily="34" charset="-120"/>
              </a:rPr>
              <a:t>regex cuts printers, inks, associations</a:t>
            </a:r>
            <a:endParaRPr lang="en-US" sz="1250" dirty="0"/>
          </a:p>
        </p:txBody>
      </p:sp>
      <p:sp>
        <p:nvSpPr>
          <p:cNvPr id="15" name="Shape 13"/>
          <p:cNvSpPr/>
          <p:nvPr/>
        </p:nvSpPr>
        <p:spPr>
          <a:xfrm>
            <a:off x="777240" y="3831336"/>
            <a:ext cx="10607040" cy="566928"/>
          </a:xfrm>
          <a:prstGeom prst="rect">
            <a:avLst/>
          </a:prstGeom>
          <a:solidFill>
            <a:srgbClr val="FFFFFF"/>
          </a:solidFill>
          <a:ln w="15240">
            <a:solidFill>
              <a:srgbClr val="4B3BD6"/>
            </a:solidFill>
            <a:prstDash val="solid"/>
          </a:ln>
        </p:spPr>
      </p:sp>
      <p:sp>
        <p:nvSpPr>
          <p:cNvPr id="16" name="Text 14"/>
          <p:cNvSpPr/>
          <p:nvPr/>
        </p:nvSpPr>
        <p:spPr>
          <a:xfrm>
            <a:off x="1005840" y="3831336"/>
            <a:ext cx="1463040" cy="566928"/>
          </a:xfrm>
          <a:prstGeom prst="rect">
            <a:avLst/>
          </a:prstGeom>
          <a:noFill/>
          <a:ln/>
        </p:spPr>
        <p:txBody>
          <a:bodyPr wrap="square" lIns="0" tIns="0" rIns="0" bIns="0" rtlCol="0" anchor="ctr"/>
          <a:lstStyle/>
          <a:p>
            <a:pPr indent="0" marL="0">
              <a:buNone/>
            </a:pPr>
            <a:r>
              <a:rPr lang="en-US" sz="1200" dirty="0">
                <a:solidFill>
                  <a:srgbClr val="14161A"/>
                </a:solidFill>
                <a:latin typeface="Courier New" pitchFamily="34" charset="0"/>
                <a:ea typeface="Courier New" pitchFamily="34" charset="-122"/>
                <a:cs typeface="Courier New" pitchFamily="34" charset="-120"/>
              </a:rPr>
              <a:t>CLASSIFY</a:t>
            </a:r>
            <a:endParaRPr lang="en-US" sz="1200" dirty="0"/>
          </a:p>
        </p:txBody>
      </p:sp>
      <p:sp>
        <p:nvSpPr>
          <p:cNvPr id="17" name="Text 15"/>
          <p:cNvSpPr/>
          <p:nvPr/>
        </p:nvSpPr>
        <p:spPr>
          <a:xfrm>
            <a:off x="2514600" y="3831336"/>
            <a:ext cx="822960" cy="566928"/>
          </a:xfrm>
          <a:prstGeom prst="rect">
            <a:avLst/>
          </a:prstGeom>
          <a:noFill/>
          <a:ln/>
        </p:spPr>
        <p:txBody>
          <a:bodyPr wrap="square" lIns="0" tIns="0" rIns="0" bIns="0" rtlCol="0" anchor="ctr"/>
          <a:lstStyle/>
          <a:p>
            <a:pPr indent="0" marL="0">
              <a:buNone/>
            </a:pPr>
            <a:r>
              <a:rPr lang="en-US" sz="1500" dirty="0">
                <a:solidFill>
                  <a:srgbClr val="14161A"/>
                </a:solidFill>
                <a:latin typeface="Courier New" pitchFamily="34" charset="0"/>
                <a:ea typeface="Courier New" pitchFamily="34" charset="-122"/>
                <a:cs typeface="Courier New" pitchFamily="34" charset="-120"/>
              </a:rPr>
              <a:t>736</a:t>
            </a:r>
            <a:endParaRPr lang="en-US" sz="1500" dirty="0"/>
          </a:p>
        </p:txBody>
      </p:sp>
      <p:sp>
        <p:nvSpPr>
          <p:cNvPr id="18" name="Text 16"/>
          <p:cNvSpPr/>
          <p:nvPr/>
        </p:nvSpPr>
        <p:spPr>
          <a:xfrm>
            <a:off x="3429000" y="3831336"/>
            <a:ext cx="1005840" cy="566928"/>
          </a:xfrm>
          <a:prstGeom prst="rect">
            <a:avLst/>
          </a:prstGeom>
          <a:noFill/>
          <a:ln/>
        </p:spPr>
        <p:txBody>
          <a:bodyPr wrap="square" lIns="0" tIns="0" rIns="0" bIns="0" rtlCol="0" anchor="ctr"/>
          <a:lstStyle/>
          <a:p>
            <a:pPr indent="0" marL="0">
              <a:buNone/>
            </a:pPr>
            <a:r>
              <a:rPr lang="en-US" sz="1200" dirty="0">
                <a:solidFill>
                  <a:srgbClr val="4B3BD6"/>
                </a:solidFill>
                <a:latin typeface="Courier New" pitchFamily="34" charset="0"/>
                <a:ea typeface="Courier New" pitchFamily="34" charset="-122"/>
                <a:cs typeface="Courier New" pitchFamily="34" charset="-120"/>
              </a:rPr>
              <a:t>$0.10</a:t>
            </a:r>
            <a:endParaRPr lang="en-US" sz="1200" dirty="0"/>
          </a:p>
        </p:txBody>
      </p:sp>
      <p:sp>
        <p:nvSpPr>
          <p:cNvPr id="19" name="Text 17"/>
          <p:cNvSpPr/>
          <p:nvPr/>
        </p:nvSpPr>
        <p:spPr>
          <a:xfrm>
            <a:off x="4617720" y="3831336"/>
            <a:ext cx="6492240" cy="566928"/>
          </a:xfrm>
          <a:prstGeom prst="rect">
            <a:avLst/>
          </a:prstGeom>
          <a:noFill/>
          <a:ln/>
        </p:spPr>
        <p:txBody>
          <a:bodyPr wrap="square" lIns="0" tIns="0" rIns="0" bIns="0" rtlCol="0" anchor="ctr"/>
          <a:lstStyle/>
          <a:p>
            <a:pPr indent="0" marL="0">
              <a:buNone/>
            </a:pPr>
            <a:r>
              <a:rPr lang="en-US" sz="1250" dirty="0">
                <a:solidFill>
                  <a:srgbClr val="4A5058"/>
                </a:solidFill>
                <a:latin typeface="Arial" pitchFamily="34" charset="0"/>
                <a:ea typeface="Arial" pitchFamily="34" charset="-122"/>
                <a:cs typeface="Arial" pitchFamily="34" charset="-120"/>
              </a:rPr>
              <a:t>model recall, no search</a:t>
            </a:r>
            <a:endParaRPr lang="en-US" sz="1250" dirty="0"/>
          </a:p>
        </p:txBody>
      </p:sp>
      <p:sp>
        <p:nvSpPr>
          <p:cNvPr id="20" name="Shape 18"/>
          <p:cNvSpPr/>
          <p:nvPr/>
        </p:nvSpPr>
        <p:spPr>
          <a:xfrm>
            <a:off x="777240" y="4489704"/>
            <a:ext cx="10607040" cy="566928"/>
          </a:xfrm>
          <a:prstGeom prst="rect">
            <a:avLst/>
          </a:prstGeom>
          <a:solidFill>
            <a:srgbClr val="FFFFFF"/>
          </a:solidFill>
          <a:ln w="15240">
            <a:solidFill>
              <a:srgbClr val="4B3BD6"/>
            </a:solidFill>
            <a:prstDash val="solid"/>
          </a:ln>
        </p:spPr>
      </p:sp>
      <p:sp>
        <p:nvSpPr>
          <p:cNvPr id="21" name="Text 19"/>
          <p:cNvSpPr/>
          <p:nvPr/>
        </p:nvSpPr>
        <p:spPr>
          <a:xfrm>
            <a:off x="1005840" y="4489704"/>
            <a:ext cx="1463040" cy="566928"/>
          </a:xfrm>
          <a:prstGeom prst="rect">
            <a:avLst/>
          </a:prstGeom>
          <a:noFill/>
          <a:ln/>
        </p:spPr>
        <p:txBody>
          <a:bodyPr wrap="square" lIns="0" tIns="0" rIns="0" bIns="0" rtlCol="0" anchor="ctr"/>
          <a:lstStyle/>
          <a:p>
            <a:pPr indent="0" marL="0">
              <a:buNone/>
            </a:pPr>
            <a:r>
              <a:rPr lang="en-US" sz="1200" dirty="0">
                <a:solidFill>
                  <a:srgbClr val="14161A"/>
                </a:solidFill>
                <a:latin typeface="Courier New" pitchFamily="34" charset="0"/>
                <a:ea typeface="Courier New" pitchFamily="34" charset="-122"/>
                <a:cs typeface="Courier New" pitchFamily="34" charset="-120"/>
              </a:rPr>
              <a:t>ENRICH</a:t>
            </a:r>
            <a:endParaRPr lang="en-US" sz="1200" dirty="0"/>
          </a:p>
        </p:txBody>
      </p:sp>
      <p:sp>
        <p:nvSpPr>
          <p:cNvPr id="22" name="Text 20"/>
          <p:cNvSpPr/>
          <p:nvPr/>
        </p:nvSpPr>
        <p:spPr>
          <a:xfrm>
            <a:off x="2514600" y="4489704"/>
            <a:ext cx="822960" cy="566928"/>
          </a:xfrm>
          <a:prstGeom prst="rect">
            <a:avLst/>
          </a:prstGeom>
          <a:noFill/>
          <a:ln/>
        </p:spPr>
        <p:txBody>
          <a:bodyPr wrap="square" lIns="0" tIns="0" rIns="0" bIns="0" rtlCol="0" anchor="ctr"/>
          <a:lstStyle/>
          <a:p>
            <a:pPr indent="0" marL="0">
              <a:buNone/>
            </a:pPr>
            <a:r>
              <a:rPr lang="en-US" sz="1500" dirty="0">
                <a:solidFill>
                  <a:srgbClr val="14161A"/>
                </a:solidFill>
                <a:latin typeface="Courier New" pitchFamily="34" charset="0"/>
                <a:ea typeface="Courier New" pitchFamily="34" charset="-122"/>
                <a:cs typeface="Courier New" pitchFamily="34" charset="-120"/>
              </a:rPr>
              <a:t>116</a:t>
            </a:r>
            <a:endParaRPr lang="en-US" sz="1500" dirty="0"/>
          </a:p>
        </p:txBody>
      </p:sp>
      <p:sp>
        <p:nvSpPr>
          <p:cNvPr id="23" name="Text 21"/>
          <p:cNvSpPr/>
          <p:nvPr/>
        </p:nvSpPr>
        <p:spPr>
          <a:xfrm>
            <a:off x="3429000" y="4489704"/>
            <a:ext cx="1005840" cy="566928"/>
          </a:xfrm>
          <a:prstGeom prst="rect">
            <a:avLst/>
          </a:prstGeom>
          <a:noFill/>
          <a:ln/>
        </p:spPr>
        <p:txBody>
          <a:bodyPr wrap="square" lIns="0" tIns="0" rIns="0" bIns="0" rtlCol="0" anchor="ctr"/>
          <a:lstStyle/>
          <a:p>
            <a:pPr indent="0" marL="0">
              <a:buNone/>
            </a:pPr>
            <a:r>
              <a:rPr lang="en-US" sz="1200" dirty="0">
                <a:solidFill>
                  <a:srgbClr val="4B3BD6"/>
                </a:solidFill>
                <a:latin typeface="Courier New" pitchFamily="34" charset="0"/>
                <a:ea typeface="Courier New" pitchFamily="34" charset="-122"/>
                <a:cs typeface="Courier New" pitchFamily="34" charset="-120"/>
              </a:rPr>
              <a:t>$4.02</a:t>
            </a:r>
            <a:endParaRPr lang="en-US" sz="1200" dirty="0"/>
          </a:p>
        </p:txBody>
      </p:sp>
      <p:sp>
        <p:nvSpPr>
          <p:cNvPr id="24" name="Text 22"/>
          <p:cNvSpPr/>
          <p:nvPr/>
        </p:nvSpPr>
        <p:spPr>
          <a:xfrm>
            <a:off x="4617720" y="4489704"/>
            <a:ext cx="6492240" cy="566928"/>
          </a:xfrm>
          <a:prstGeom prst="rect">
            <a:avLst/>
          </a:prstGeom>
          <a:noFill/>
          <a:ln/>
        </p:spPr>
        <p:txBody>
          <a:bodyPr wrap="square" lIns="0" tIns="0" rIns="0" bIns="0" rtlCol="0" anchor="ctr"/>
          <a:lstStyle/>
          <a:p>
            <a:pPr indent="0" marL="0">
              <a:buNone/>
            </a:pPr>
            <a:r>
              <a:rPr lang="en-US" sz="1250" dirty="0">
                <a:solidFill>
                  <a:srgbClr val="4A5058"/>
                </a:solidFill>
                <a:latin typeface="Arial" pitchFamily="34" charset="0"/>
                <a:ea typeface="Arial" pitchFamily="34" charset="-122"/>
                <a:cs typeface="Arial" pitchFamily="34" charset="-120"/>
              </a:rPr>
              <a:t>web search, every field sourced</a:t>
            </a:r>
            <a:endParaRPr lang="en-US" sz="1250" dirty="0"/>
          </a:p>
        </p:txBody>
      </p:sp>
      <p:sp>
        <p:nvSpPr>
          <p:cNvPr id="25" name="Shape 23"/>
          <p:cNvSpPr/>
          <p:nvPr/>
        </p:nvSpPr>
        <p:spPr>
          <a:xfrm>
            <a:off x="777240" y="5148072"/>
            <a:ext cx="10607040" cy="566928"/>
          </a:xfrm>
          <a:prstGeom prst="rect">
            <a:avLst/>
          </a:prstGeom>
          <a:solidFill>
            <a:srgbClr val="FFFFFF"/>
          </a:solidFill>
          <a:ln w="15240">
            <a:solidFill>
              <a:srgbClr val="4B3BD6"/>
            </a:solidFill>
            <a:prstDash val="solid"/>
          </a:ln>
        </p:spPr>
      </p:sp>
      <p:sp>
        <p:nvSpPr>
          <p:cNvPr id="26" name="Text 24"/>
          <p:cNvSpPr/>
          <p:nvPr/>
        </p:nvSpPr>
        <p:spPr>
          <a:xfrm>
            <a:off x="1005840" y="5148072"/>
            <a:ext cx="1463040" cy="566928"/>
          </a:xfrm>
          <a:prstGeom prst="rect">
            <a:avLst/>
          </a:prstGeom>
          <a:noFill/>
          <a:ln/>
        </p:spPr>
        <p:txBody>
          <a:bodyPr wrap="square" lIns="0" tIns="0" rIns="0" bIns="0" rtlCol="0" anchor="ctr"/>
          <a:lstStyle/>
          <a:p>
            <a:pPr indent="0" marL="0">
              <a:buNone/>
            </a:pPr>
            <a:r>
              <a:rPr lang="en-US" sz="1200" dirty="0">
                <a:solidFill>
                  <a:srgbClr val="14161A"/>
                </a:solidFill>
                <a:latin typeface="Courier New" pitchFamily="34" charset="0"/>
                <a:ea typeface="Courier New" pitchFamily="34" charset="-122"/>
                <a:cs typeface="Courier New" pitchFamily="34" charset="-120"/>
              </a:rPr>
              <a:t>SCORE</a:t>
            </a:r>
            <a:endParaRPr lang="en-US" sz="1200" dirty="0"/>
          </a:p>
        </p:txBody>
      </p:sp>
      <p:sp>
        <p:nvSpPr>
          <p:cNvPr id="27" name="Text 25"/>
          <p:cNvSpPr/>
          <p:nvPr/>
        </p:nvSpPr>
        <p:spPr>
          <a:xfrm>
            <a:off x="2514600" y="5148072"/>
            <a:ext cx="822960" cy="566928"/>
          </a:xfrm>
          <a:prstGeom prst="rect">
            <a:avLst/>
          </a:prstGeom>
          <a:noFill/>
          <a:ln/>
        </p:spPr>
        <p:txBody>
          <a:bodyPr wrap="square" lIns="0" tIns="0" rIns="0" bIns="0" rtlCol="0" anchor="ctr"/>
          <a:lstStyle/>
          <a:p>
            <a:pPr indent="0" marL="0">
              <a:buNone/>
            </a:pPr>
            <a:r>
              <a:rPr lang="en-US" sz="1500" dirty="0">
                <a:solidFill>
                  <a:srgbClr val="14161A"/>
                </a:solidFill>
                <a:latin typeface="Courier New" pitchFamily="34" charset="0"/>
                <a:ea typeface="Courier New" pitchFamily="34" charset="-122"/>
                <a:cs typeface="Courier New" pitchFamily="34" charset="-120"/>
              </a:rPr>
              <a:t>26</a:t>
            </a:r>
            <a:endParaRPr lang="en-US" sz="1500" dirty="0"/>
          </a:p>
        </p:txBody>
      </p:sp>
      <p:sp>
        <p:nvSpPr>
          <p:cNvPr id="28" name="Text 26"/>
          <p:cNvSpPr/>
          <p:nvPr/>
        </p:nvSpPr>
        <p:spPr>
          <a:xfrm>
            <a:off x="3429000" y="5148072"/>
            <a:ext cx="1005840" cy="566928"/>
          </a:xfrm>
          <a:prstGeom prst="rect">
            <a:avLst/>
          </a:prstGeom>
          <a:noFill/>
          <a:ln/>
        </p:spPr>
        <p:txBody>
          <a:bodyPr wrap="square" lIns="0" tIns="0" rIns="0" bIns="0" rtlCol="0" anchor="ctr"/>
          <a:lstStyle/>
          <a:p>
            <a:pPr indent="0" marL="0">
              <a:buNone/>
            </a:pPr>
            <a:r>
              <a:rPr lang="en-US" sz="1200" dirty="0">
                <a:solidFill>
                  <a:srgbClr val="4B3BD6"/>
                </a:solidFill>
                <a:latin typeface="Courier New" pitchFamily="34" charset="0"/>
                <a:ea typeface="Courier New" pitchFamily="34" charset="-122"/>
                <a:cs typeface="Courier New" pitchFamily="34" charset="-120"/>
              </a:rPr>
              <a:t>$3.06</a:t>
            </a:r>
            <a:endParaRPr lang="en-US" sz="1200" dirty="0"/>
          </a:p>
        </p:txBody>
      </p:sp>
      <p:sp>
        <p:nvSpPr>
          <p:cNvPr id="29" name="Text 27"/>
          <p:cNvSpPr/>
          <p:nvPr/>
        </p:nvSpPr>
        <p:spPr>
          <a:xfrm>
            <a:off x="4617720" y="5148072"/>
            <a:ext cx="6492240" cy="566928"/>
          </a:xfrm>
          <a:prstGeom prst="rect">
            <a:avLst/>
          </a:prstGeom>
          <a:noFill/>
          <a:ln/>
        </p:spPr>
        <p:txBody>
          <a:bodyPr wrap="square" lIns="0" tIns="0" rIns="0" bIns="0" rtlCol="0" anchor="ctr"/>
          <a:lstStyle/>
          <a:p>
            <a:pPr indent="0" marL="0">
              <a:buNone/>
            </a:pPr>
            <a:r>
              <a:rPr lang="en-US" sz="1250" dirty="0">
                <a:solidFill>
                  <a:srgbClr val="4A5058"/>
                </a:solidFill>
                <a:latin typeface="Arial" pitchFamily="34" charset="0"/>
                <a:ea typeface="Arial" pitchFamily="34" charset="-122"/>
                <a:cs typeface="Arial" pitchFamily="34" charset="-120"/>
              </a:rPr>
              <a:t>model reads, Python weights</a:t>
            </a:r>
            <a:endParaRPr lang="en-US" sz="1250" dirty="0"/>
          </a:p>
        </p:txBody>
      </p:sp>
      <p:sp>
        <p:nvSpPr>
          <p:cNvPr id="30" name="Shape 28"/>
          <p:cNvSpPr/>
          <p:nvPr/>
        </p:nvSpPr>
        <p:spPr>
          <a:xfrm>
            <a:off x="777240" y="5806440"/>
            <a:ext cx="10607040" cy="566928"/>
          </a:xfrm>
          <a:prstGeom prst="rect">
            <a:avLst/>
          </a:prstGeom>
          <a:solidFill>
            <a:srgbClr val="FFFFFF"/>
          </a:solidFill>
          <a:ln w="15240">
            <a:solidFill>
              <a:srgbClr val="4B3BD6"/>
            </a:solidFill>
            <a:prstDash val="solid"/>
          </a:ln>
        </p:spPr>
      </p:sp>
      <p:sp>
        <p:nvSpPr>
          <p:cNvPr id="31" name="Text 29"/>
          <p:cNvSpPr/>
          <p:nvPr/>
        </p:nvSpPr>
        <p:spPr>
          <a:xfrm>
            <a:off x="1005840" y="5806440"/>
            <a:ext cx="1463040" cy="566928"/>
          </a:xfrm>
          <a:prstGeom prst="rect">
            <a:avLst/>
          </a:prstGeom>
          <a:noFill/>
          <a:ln/>
        </p:spPr>
        <p:txBody>
          <a:bodyPr wrap="square" lIns="0" tIns="0" rIns="0" bIns="0" rtlCol="0" anchor="ctr"/>
          <a:lstStyle/>
          <a:p>
            <a:pPr indent="0" marL="0">
              <a:buNone/>
            </a:pPr>
            <a:r>
              <a:rPr lang="en-US" sz="1200" dirty="0">
                <a:solidFill>
                  <a:srgbClr val="14161A"/>
                </a:solidFill>
                <a:latin typeface="Courier New" pitchFamily="34" charset="0"/>
                <a:ea typeface="Courier New" pitchFamily="34" charset="-122"/>
                <a:cs typeface="Courier New" pitchFamily="34" charset="-120"/>
              </a:rPr>
              <a:t>OUTREACH</a:t>
            </a:r>
            <a:endParaRPr lang="en-US" sz="1200" dirty="0"/>
          </a:p>
        </p:txBody>
      </p:sp>
      <p:sp>
        <p:nvSpPr>
          <p:cNvPr id="32" name="Text 30"/>
          <p:cNvSpPr/>
          <p:nvPr/>
        </p:nvSpPr>
        <p:spPr>
          <a:xfrm>
            <a:off x="2514600" y="5806440"/>
            <a:ext cx="822960" cy="566928"/>
          </a:xfrm>
          <a:prstGeom prst="rect">
            <a:avLst/>
          </a:prstGeom>
          <a:noFill/>
          <a:ln/>
        </p:spPr>
        <p:txBody>
          <a:bodyPr wrap="square" lIns="0" tIns="0" rIns="0" bIns="0" rtlCol="0" anchor="ctr"/>
          <a:lstStyle/>
          <a:p>
            <a:pPr indent="0" marL="0">
              <a:buNone/>
            </a:pPr>
            <a:r>
              <a:rPr lang="en-US" sz="1500" dirty="0">
                <a:solidFill>
                  <a:srgbClr val="14161A"/>
                </a:solidFill>
                <a:latin typeface="Courier New" pitchFamily="34" charset="0"/>
                <a:ea typeface="Courier New" pitchFamily="34" charset="-122"/>
                <a:cs typeface="Courier New" pitchFamily="34" charset="-120"/>
              </a:rPr>
              <a:t>26</a:t>
            </a:r>
            <a:endParaRPr lang="en-US" sz="1500" dirty="0"/>
          </a:p>
        </p:txBody>
      </p:sp>
      <p:sp>
        <p:nvSpPr>
          <p:cNvPr id="33" name="Text 31"/>
          <p:cNvSpPr/>
          <p:nvPr/>
        </p:nvSpPr>
        <p:spPr>
          <a:xfrm>
            <a:off x="3429000" y="5806440"/>
            <a:ext cx="1005840" cy="566928"/>
          </a:xfrm>
          <a:prstGeom prst="rect">
            <a:avLst/>
          </a:prstGeom>
          <a:noFill/>
          <a:ln/>
        </p:spPr>
        <p:txBody>
          <a:bodyPr wrap="square" lIns="0" tIns="0" rIns="0" bIns="0" rtlCol="0" anchor="ctr"/>
          <a:lstStyle/>
          <a:p>
            <a:pPr indent="0" marL="0">
              <a:buNone/>
            </a:pPr>
            <a:r>
              <a:rPr lang="en-US" sz="1200" dirty="0">
                <a:solidFill>
                  <a:srgbClr val="4B3BD6"/>
                </a:solidFill>
                <a:latin typeface="Courier New" pitchFamily="34" charset="0"/>
                <a:ea typeface="Courier New" pitchFamily="34" charset="-122"/>
                <a:cs typeface="Courier New" pitchFamily="34" charset="-120"/>
              </a:rPr>
              <a:t>$2.20</a:t>
            </a:r>
            <a:endParaRPr lang="en-US" sz="1200" dirty="0"/>
          </a:p>
        </p:txBody>
      </p:sp>
      <p:sp>
        <p:nvSpPr>
          <p:cNvPr id="34" name="Text 32"/>
          <p:cNvSpPr/>
          <p:nvPr/>
        </p:nvSpPr>
        <p:spPr>
          <a:xfrm>
            <a:off x="4617720" y="5806440"/>
            <a:ext cx="6492240" cy="566928"/>
          </a:xfrm>
          <a:prstGeom prst="rect">
            <a:avLst/>
          </a:prstGeom>
          <a:noFill/>
          <a:ln/>
        </p:spPr>
        <p:txBody>
          <a:bodyPr wrap="square" lIns="0" tIns="0" rIns="0" bIns="0" rtlCol="0" anchor="ctr"/>
          <a:lstStyle/>
          <a:p>
            <a:pPr indent="0" marL="0">
              <a:buNone/>
            </a:pPr>
            <a:r>
              <a:rPr lang="en-US" sz="1250" dirty="0">
                <a:solidFill>
                  <a:srgbClr val="4A5058"/>
                </a:solidFill>
                <a:latin typeface="Arial" pitchFamily="34" charset="0"/>
                <a:ea typeface="Arial" pitchFamily="34" charset="-122"/>
                <a:cs typeface="Arial" pitchFamily="34" charset="-120"/>
              </a:rPr>
              <a:t>draft, then verify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THE RESULT THAT MAKES THE CASE</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3300" b="1" dirty="0">
                <a:solidFill>
                  <a:srgbClr val="14161A"/>
                </a:solidFill>
                <a:latin typeface="Arial" pitchFamily="34" charset="0"/>
                <a:ea typeface="Arial" pitchFamily="34" charset="-122"/>
                <a:cs typeface="Arial" pitchFamily="34" charset="-120"/>
              </a:rPr>
              <a:t>3M scores 94 on fit and 12 on leverage</a:t>
            </a:r>
            <a:endParaRPr lang="en-US" sz="3300" dirty="0"/>
          </a:p>
        </p:txBody>
      </p:sp>
      <p:sp>
        <p:nvSpPr>
          <p:cNvPr id="4" name="Shape 2"/>
          <p:cNvSpPr/>
          <p:nvPr/>
        </p:nvSpPr>
        <p:spPr>
          <a:xfrm>
            <a:off x="777240" y="1828800"/>
            <a:ext cx="5029200" cy="2971800"/>
          </a:xfrm>
          <a:prstGeom prst="rect">
            <a:avLst/>
          </a:prstGeom>
          <a:solidFill>
            <a:srgbClr val="F2F3F0"/>
          </a:solidFill>
          <a:ln w="9525">
            <a:solidFill>
              <a:srgbClr val="D6D9D3"/>
            </a:solidFill>
            <a:prstDash val="solid"/>
          </a:ln>
        </p:spPr>
      </p:sp>
      <p:sp>
        <p:nvSpPr>
          <p:cNvPr id="5" name="Text 3"/>
          <p:cNvSpPr/>
          <p:nvPr/>
        </p:nvSpPr>
        <p:spPr>
          <a:xfrm>
            <a:off x="1143000" y="2148840"/>
            <a:ext cx="2743200" cy="274320"/>
          </a:xfrm>
          <a:prstGeom prst="rect">
            <a:avLst/>
          </a:prstGeom>
          <a:noFill/>
          <a:ln/>
        </p:spPr>
        <p:txBody>
          <a:bodyPr wrap="square" lIns="0" tIns="0" rIns="0" bIns="0" rtlCol="0" anchor="ctr"/>
          <a:lstStyle/>
          <a:p>
            <a:pPr indent="0" marL="0">
              <a:buNone/>
            </a:pPr>
            <a:r>
              <a:rPr lang="en-US" sz="1100" spc="140" kern="0" dirty="0">
                <a:solidFill>
                  <a:srgbClr val="7D848D"/>
                </a:solidFill>
                <a:latin typeface="Courier New" pitchFamily="34" charset="0"/>
                <a:ea typeface="Courier New" pitchFamily="34" charset="-122"/>
                <a:cs typeface="Courier New" pitchFamily="34" charset="-120"/>
              </a:rPr>
              <a:t>FIT</a:t>
            </a:r>
            <a:endParaRPr lang="en-US" sz="1100" dirty="0"/>
          </a:p>
        </p:txBody>
      </p:sp>
      <p:sp>
        <p:nvSpPr>
          <p:cNvPr id="6" name="Text 4"/>
          <p:cNvSpPr/>
          <p:nvPr/>
        </p:nvSpPr>
        <p:spPr>
          <a:xfrm>
            <a:off x="1143000" y="2377440"/>
            <a:ext cx="2743200" cy="1005840"/>
          </a:xfrm>
          <a:prstGeom prst="rect">
            <a:avLst/>
          </a:prstGeom>
          <a:noFill/>
          <a:ln/>
        </p:spPr>
        <p:txBody>
          <a:bodyPr wrap="square" lIns="0" tIns="0" rIns="0" bIns="0" rtlCol="0" anchor="ctr"/>
          <a:lstStyle/>
          <a:p>
            <a:pPr indent="0" marL="0">
              <a:buNone/>
            </a:pPr>
            <a:r>
              <a:rPr lang="en-US" sz="6200" dirty="0">
                <a:solidFill>
                  <a:srgbClr val="4B3BD6"/>
                </a:solidFill>
                <a:latin typeface="Courier New" pitchFamily="34" charset="0"/>
                <a:ea typeface="Courier New" pitchFamily="34" charset="-122"/>
                <a:cs typeface="Courier New" pitchFamily="34" charset="-120"/>
              </a:rPr>
              <a:t>94</a:t>
            </a:r>
            <a:endParaRPr lang="en-US" sz="6200" dirty="0"/>
          </a:p>
        </p:txBody>
      </p:sp>
      <p:sp>
        <p:nvSpPr>
          <p:cNvPr id="7" name="Text 5"/>
          <p:cNvSpPr/>
          <p:nvPr/>
        </p:nvSpPr>
        <p:spPr>
          <a:xfrm>
            <a:off x="1143000" y="3520440"/>
            <a:ext cx="4297680" cy="1097280"/>
          </a:xfrm>
          <a:prstGeom prst="rect">
            <a:avLst/>
          </a:prstGeom>
          <a:noFill/>
          <a:ln/>
        </p:spPr>
        <p:txBody>
          <a:bodyPr wrap="square" lIns="0" tIns="0" rIns="0" bIns="0" rtlCol="0" anchor="ctr"/>
          <a:lstStyle/>
          <a:p>
            <a:pPr indent="0" marL="0">
              <a:lnSpc>
                <a:spcPts val="1900"/>
              </a:lnSpc>
              <a:buNone/>
            </a:pPr>
            <a:r>
              <a:rPr lang="en-US" sz="1350" dirty="0">
                <a:solidFill>
                  <a:srgbClr val="4A5058"/>
                </a:solidFill>
                <a:latin typeface="Arial" pitchFamily="34" charset="0"/>
                <a:ea typeface="Arial" pitchFamily="34" charset="-122"/>
                <a:cs typeface="Arial" pitchFamily="34" charset="-120"/>
              </a:rPr>
              <a:t>Makes graphic films for vehicle wraps. $24.9B revenue. Sells overlaminates into harsh-climate markets. A textbook ideal customer.</a:t>
            </a:r>
            <a:endParaRPr lang="en-US" sz="1350" dirty="0"/>
          </a:p>
        </p:txBody>
      </p:sp>
      <p:sp>
        <p:nvSpPr>
          <p:cNvPr id="8" name="Shape 6"/>
          <p:cNvSpPr/>
          <p:nvPr/>
        </p:nvSpPr>
        <p:spPr>
          <a:xfrm>
            <a:off x="6217920" y="1828800"/>
            <a:ext cx="5029200" cy="2971800"/>
          </a:xfrm>
          <a:prstGeom prst="rect">
            <a:avLst/>
          </a:prstGeom>
          <a:solidFill>
            <a:srgbClr val="F2F3F0"/>
          </a:solidFill>
          <a:ln w="9525">
            <a:solidFill>
              <a:srgbClr val="D6D9D3"/>
            </a:solidFill>
            <a:prstDash val="solid"/>
          </a:ln>
        </p:spPr>
      </p:sp>
      <p:sp>
        <p:nvSpPr>
          <p:cNvPr id="9" name="Text 7"/>
          <p:cNvSpPr/>
          <p:nvPr/>
        </p:nvSpPr>
        <p:spPr>
          <a:xfrm>
            <a:off x="6583680" y="2148840"/>
            <a:ext cx="2743200" cy="274320"/>
          </a:xfrm>
          <a:prstGeom prst="rect">
            <a:avLst/>
          </a:prstGeom>
          <a:noFill/>
          <a:ln/>
        </p:spPr>
        <p:txBody>
          <a:bodyPr wrap="square" lIns="0" tIns="0" rIns="0" bIns="0" rtlCol="0" anchor="ctr"/>
          <a:lstStyle/>
          <a:p>
            <a:pPr indent="0" marL="0">
              <a:buNone/>
            </a:pPr>
            <a:r>
              <a:rPr lang="en-US" sz="1100" spc="140" kern="0" dirty="0">
                <a:solidFill>
                  <a:srgbClr val="7D848D"/>
                </a:solidFill>
                <a:latin typeface="Courier New" pitchFamily="34" charset="0"/>
                <a:ea typeface="Courier New" pitchFamily="34" charset="-122"/>
                <a:cs typeface="Courier New" pitchFamily="34" charset="-120"/>
              </a:rPr>
              <a:t>LEVERAGE</a:t>
            </a:r>
            <a:endParaRPr lang="en-US" sz="1100" dirty="0"/>
          </a:p>
        </p:txBody>
      </p:sp>
      <p:sp>
        <p:nvSpPr>
          <p:cNvPr id="10" name="Text 8"/>
          <p:cNvSpPr/>
          <p:nvPr/>
        </p:nvSpPr>
        <p:spPr>
          <a:xfrm>
            <a:off x="6583680" y="2377440"/>
            <a:ext cx="2743200" cy="1005840"/>
          </a:xfrm>
          <a:prstGeom prst="rect">
            <a:avLst/>
          </a:prstGeom>
          <a:noFill/>
          <a:ln/>
        </p:spPr>
        <p:txBody>
          <a:bodyPr wrap="square" lIns="0" tIns="0" rIns="0" bIns="0" rtlCol="0" anchor="ctr"/>
          <a:lstStyle/>
          <a:p>
            <a:pPr indent="0" marL="0">
              <a:buNone/>
            </a:pPr>
            <a:r>
              <a:rPr lang="en-US" sz="6200" dirty="0">
                <a:solidFill>
                  <a:srgbClr val="D9722A"/>
                </a:solidFill>
                <a:latin typeface="Courier New" pitchFamily="34" charset="0"/>
                <a:ea typeface="Courier New" pitchFamily="34" charset="-122"/>
                <a:cs typeface="Courier New" pitchFamily="34" charset="-120"/>
              </a:rPr>
              <a:t>12</a:t>
            </a:r>
            <a:endParaRPr lang="en-US" sz="6200" dirty="0"/>
          </a:p>
        </p:txBody>
      </p:sp>
      <p:sp>
        <p:nvSpPr>
          <p:cNvPr id="11" name="Text 9"/>
          <p:cNvSpPr/>
          <p:nvPr/>
        </p:nvSpPr>
        <p:spPr>
          <a:xfrm>
            <a:off x="6583680" y="3520440"/>
            <a:ext cx="4297680" cy="1097280"/>
          </a:xfrm>
          <a:prstGeom prst="rect">
            <a:avLst/>
          </a:prstGeom>
          <a:noFill/>
          <a:ln/>
        </p:spPr>
        <p:txBody>
          <a:bodyPr wrap="square" lIns="0" tIns="0" rIns="0" bIns="0" rtlCol="0" anchor="ctr"/>
          <a:lstStyle/>
          <a:p>
            <a:pPr indent="0" marL="0">
              <a:lnSpc>
                <a:spcPts val="1900"/>
              </a:lnSpc>
              <a:buNone/>
            </a:pPr>
            <a:r>
              <a:rPr lang="en-US" sz="1350" dirty="0">
                <a:solidFill>
                  <a:srgbClr val="4A5058"/>
                </a:solidFill>
                <a:latin typeface="Arial" pitchFamily="34" charset="0"/>
                <a:ea typeface="Arial" pitchFamily="34" charset="-122"/>
                <a:cs typeface="Arial" pitchFamily="34" charset="-120"/>
              </a:rPr>
              <a:t>3M manufactures its own protective overlaminates. There is no account here to win. A single score would have put them first on the call list.</a:t>
            </a:r>
            <a:endParaRPr lang="en-US" sz="1350" dirty="0"/>
          </a:p>
        </p:txBody>
      </p:sp>
      <p:sp>
        <p:nvSpPr>
          <p:cNvPr id="12" name="Text 10"/>
          <p:cNvSpPr/>
          <p:nvPr/>
        </p:nvSpPr>
        <p:spPr>
          <a:xfrm>
            <a:off x="777240" y="5257800"/>
            <a:ext cx="10607040" cy="731520"/>
          </a:xfrm>
          <a:prstGeom prst="rect">
            <a:avLst/>
          </a:prstGeom>
          <a:noFill/>
          <a:ln/>
        </p:spPr>
        <p:txBody>
          <a:bodyPr wrap="square" lIns="0" tIns="0" rIns="0" bIns="0" rtlCol="0" anchor="ctr"/>
          <a:lstStyle/>
          <a:p>
            <a:pPr indent="0" marL="0">
              <a:lnSpc>
                <a:spcPts val="2000"/>
              </a:lnSpc>
              <a:buNone/>
            </a:pPr>
            <a:r>
              <a:rPr lang="en-US" sz="1500" dirty="0">
                <a:solidFill>
                  <a:srgbClr val="14161A"/>
                </a:solidFill>
                <a:latin typeface="Arial" pitchFamily="34" charset="0"/>
                <a:ea typeface="Arial" pitchFamily="34" charset="-122"/>
                <a:cs typeface="Arial" pitchFamily="34" charset="-120"/>
              </a:rPr>
              <a:t>The quadrant changes what the email asks for. 3M lands in displacement, so the draft leads on a technical comparison and closes with “no need to jump on a call” rather than requesting a meeting it will not get.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WHAT THE AGENT ACTUALLY WRITES</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3100" b="1" dirty="0">
                <a:solidFill>
                  <a:srgbClr val="14161A"/>
                </a:solidFill>
                <a:latin typeface="Arial" pitchFamily="34" charset="0"/>
                <a:ea typeface="Arial" pitchFamily="34" charset="-122"/>
                <a:cs typeface="Arial" pitchFamily="34" charset="-120"/>
              </a:rPr>
              <a:t>Each signal produces a different opening line</a:t>
            </a:r>
            <a:endParaRPr lang="en-US" sz="3100" dirty="0"/>
          </a:p>
        </p:txBody>
      </p:sp>
      <p:sp>
        <p:nvSpPr>
          <p:cNvPr id="4" name="Shape 2"/>
          <p:cNvSpPr/>
          <p:nvPr/>
        </p:nvSpPr>
        <p:spPr>
          <a:xfrm>
            <a:off x="777240" y="1783080"/>
            <a:ext cx="3291840" cy="3246120"/>
          </a:xfrm>
          <a:prstGeom prst="rect">
            <a:avLst/>
          </a:prstGeom>
          <a:solidFill>
            <a:srgbClr val="F2F3F0"/>
          </a:solidFill>
          <a:ln w="9525">
            <a:solidFill>
              <a:srgbClr val="D6D9D3"/>
            </a:solidFill>
            <a:prstDash val="solid"/>
          </a:ln>
        </p:spPr>
      </p:sp>
      <p:sp>
        <p:nvSpPr>
          <p:cNvPr id="5" name="Text 3"/>
          <p:cNvSpPr/>
          <p:nvPr/>
        </p:nvSpPr>
        <p:spPr>
          <a:xfrm>
            <a:off x="1033272" y="1993392"/>
            <a:ext cx="2834640" cy="274320"/>
          </a:xfrm>
          <a:prstGeom prst="rect">
            <a:avLst/>
          </a:prstGeom>
          <a:noFill/>
          <a:ln/>
        </p:spPr>
        <p:txBody>
          <a:bodyPr wrap="square" lIns="0" tIns="0" rIns="0" bIns="0" rtlCol="0" anchor="ctr"/>
          <a:lstStyle/>
          <a:p>
            <a:pPr indent="0" marL="0">
              <a:buNone/>
            </a:pPr>
            <a:r>
              <a:rPr lang="en-US" sz="950" spc="120" kern="0" dirty="0">
                <a:solidFill>
                  <a:srgbClr val="4B3BD6"/>
                </a:solidFill>
                <a:latin typeface="Courier New" pitchFamily="34" charset="0"/>
                <a:ea typeface="Courier New" pitchFamily="34" charset="-122"/>
                <a:cs typeface="Courier New" pitchFamily="34" charset="-120"/>
              </a:rPr>
              <a:t>INCUMBENT ABSENCE</a:t>
            </a:r>
            <a:endParaRPr lang="en-US" sz="950" dirty="0"/>
          </a:p>
        </p:txBody>
      </p:sp>
      <p:sp>
        <p:nvSpPr>
          <p:cNvPr id="6" name="Text 4"/>
          <p:cNvSpPr/>
          <p:nvPr/>
        </p:nvSpPr>
        <p:spPr>
          <a:xfrm>
            <a:off x="1033272" y="2286000"/>
            <a:ext cx="2834640" cy="292608"/>
          </a:xfrm>
          <a:prstGeom prst="rect">
            <a:avLst/>
          </a:prstGeom>
          <a:noFill/>
          <a:ln/>
        </p:spPr>
        <p:txBody>
          <a:bodyPr wrap="square" lIns="0" tIns="0" rIns="0" bIns="0" rtlCol="0" anchor="ctr"/>
          <a:lstStyle/>
          <a:p>
            <a:pPr indent="0" marL="0">
              <a:buNone/>
            </a:pPr>
            <a:r>
              <a:rPr lang="en-US" sz="1500" b="1" dirty="0">
                <a:solidFill>
                  <a:srgbClr val="14161A"/>
                </a:solidFill>
                <a:latin typeface="Arial" pitchFamily="34" charset="0"/>
                <a:ea typeface="Arial" pitchFamily="34" charset="-122"/>
                <a:cs typeface="Arial" pitchFamily="34" charset="-120"/>
              </a:rPr>
              <a:t>ORAFOL Americas</a:t>
            </a:r>
            <a:endParaRPr lang="en-US" sz="1500" dirty="0"/>
          </a:p>
        </p:txBody>
      </p:sp>
      <p:sp>
        <p:nvSpPr>
          <p:cNvPr id="7" name="Text 5"/>
          <p:cNvSpPr/>
          <p:nvPr/>
        </p:nvSpPr>
        <p:spPr>
          <a:xfrm>
            <a:off x="1033272" y="2670048"/>
            <a:ext cx="2788920" cy="2194560"/>
          </a:xfrm>
          <a:prstGeom prst="rect">
            <a:avLst/>
          </a:prstGeom>
          <a:noFill/>
          <a:ln/>
        </p:spPr>
        <p:txBody>
          <a:bodyPr wrap="square" lIns="0" tIns="0" rIns="0" bIns="0" rtlCol="0" anchor="ctr"/>
          <a:lstStyle/>
          <a:p>
            <a:pPr indent="0" marL="0">
              <a:lnSpc>
                <a:spcPts val="1650"/>
              </a:lnSpc>
              <a:buNone/>
            </a:pPr>
            <a:r>
              <a:rPr lang="en-US" sz="1200" dirty="0">
                <a:solidFill>
                  <a:srgbClr val="4A5058"/>
                </a:solidFill>
                <a:latin typeface="Arial" pitchFamily="34" charset="0"/>
                <a:ea typeface="Arial" pitchFamily="34" charset="-122"/>
                <a:cs typeface="Arial" pitchFamily="34" charset="-120"/>
              </a:rPr>
              <a:t>“ORAFOL’s laminating film line for outdoor graphics caught my attention, especially since I couldn’t find a named protective overlaminate partner in your public materials.”</a:t>
            </a:r>
            <a:endParaRPr lang="en-US" sz="1200" dirty="0"/>
          </a:p>
        </p:txBody>
      </p:sp>
      <p:sp>
        <p:nvSpPr>
          <p:cNvPr id="8" name="Shape 6"/>
          <p:cNvSpPr/>
          <p:nvPr/>
        </p:nvSpPr>
        <p:spPr>
          <a:xfrm>
            <a:off x="4389120" y="1783080"/>
            <a:ext cx="3291840" cy="3246120"/>
          </a:xfrm>
          <a:prstGeom prst="rect">
            <a:avLst/>
          </a:prstGeom>
          <a:solidFill>
            <a:srgbClr val="F2F3F0"/>
          </a:solidFill>
          <a:ln w="9525">
            <a:solidFill>
              <a:srgbClr val="D6D9D3"/>
            </a:solidFill>
            <a:prstDash val="solid"/>
          </a:ln>
        </p:spPr>
      </p:sp>
      <p:sp>
        <p:nvSpPr>
          <p:cNvPr id="9" name="Text 7"/>
          <p:cNvSpPr/>
          <p:nvPr/>
        </p:nvSpPr>
        <p:spPr>
          <a:xfrm>
            <a:off x="4645152" y="1993392"/>
            <a:ext cx="2834640" cy="274320"/>
          </a:xfrm>
          <a:prstGeom prst="rect">
            <a:avLst/>
          </a:prstGeom>
          <a:noFill/>
          <a:ln/>
        </p:spPr>
        <p:txBody>
          <a:bodyPr wrap="square" lIns="0" tIns="0" rIns="0" bIns="0" rtlCol="0" anchor="ctr"/>
          <a:lstStyle/>
          <a:p>
            <a:pPr indent="0" marL="0">
              <a:buNone/>
            </a:pPr>
            <a:r>
              <a:rPr lang="en-US" sz="950" spc="120" kern="0" dirty="0">
                <a:solidFill>
                  <a:srgbClr val="4B3BD6"/>
                </a:solidFill>
                <a:latin typeface="Courier New" pitchFamily="34" charset="0"/>
                <a:ea typeface="Courier New" pitchFamily="34" charset="-122"/>
                <a:cs typeface="Courier New" pitchFamily="34" charset="-120"/>
              </a:rPr>
              <a:t>DURABILITY GAP</a:t>
            </a:r>
            <a:endParaRPr lang="en-US" sz="950" dirty="0"/>
          </a:p>
        </p:txBody>
      </p:sp>
      <p:sp>
        <p:nvSpPr>
          <p:cNvPr id="10" name="Text 8"/>
          <p:cNvSpPr/>
          <p:nvPr/>
        </p:nvSpPr>
        <p:spPr>
          <a:xfrm>
            <a:off x="4645152" y="2286000"/>
            <a:ext cx="2834640" cy="292608"/>
          </a:xfrm>
          <a:prstGeom prst="rect">
            <a:avLst/>
          </a:prstGeom>
          <a:noFill/>
          <a:ln/>
        </p:spPr>
        <p:txBody>
          <a:bodyPr wrap="square" lIns="0" tIns="0" rIns="0" bIns="0" rtlCol="0" anchor="ctr"/>
          <a:lstStyle/>
          <a:p>
            <a:pPr indent="0" marL="0">
              <a:buNone/>
            </a:pPr>
            <a:r>
              <a:rPr lang="en-US" sz="1500" b="1" dirty="0">
                <a:solidFill>
                  <a:srgbClr val="14161A"/>
                </a:solidFill>
                <a:latin typeface="Arial" pitchFamily="34" charset="0"/>
                <a:ea typeface="Arial" pitchFamily="34" charset="-122"/>
                <a:cs typeface="Arial" pitchFamily="34" charset="-120"/>
              </a:rPr>
              <a:t>Quality Media</a:t>
            </a:r>
            <a:endParaRPr lang="en-US" sz="1500" dirty="0"/>
          </a:p>
        </p:txBody>
      </p:sp>
      <p:sp>
        <p:nvSpPr>
          <p:cNvPr id="11" name="Text 9"/>
          <p:cNvSpPr/>
          <p:nvPr/>
        </p:nvSpPr>
        <p:spPr>
          <a:xfrm>
            <a:off x="4645152" y="2670048"/>
            <a:ext cx="2788920" cy="2194560"/>
          </a:xfrm>
          <a:prstGeom prst="rect">
            <a:avLst/>
          </a:prstGeom>
          <a:noFill/>
          <a:ln/>
        </p:spPr>
        <p:txBody>
          <a:bodyPr wrap="square" lIns="0" tIns="0" rIns="0" bIns="0" rtlCol="0" anchor="ctr"/>
          <a:lstStyle/>
          <a:p>
            <a:pPr indent="0" marL="0">
              <a:lnSpc>
                <a:spcPts val="1650"/>
              </a:lnSpc>
              <a:buNone/>
            </a:pPr>
            <a:r>
              <a:rPr lang="en-US" sz="1200" dirty="0">
                <a:solidFill>
                  <a:srgbClr val="4A5058"/>
                </a:solidFill>
                <a:latin typeface="Arial" pitchFamily="34" charset="0"/>
                <a:ea typeface="Arial" pitchFamily="34" charset="-122"/>
                <a:cs typeface="Arial" pitchFamily="34" charset="-120"/>
              </a:rPr>
              <a:t>“Your wrap films are rated for 12-year durability. The gap between a good overlaminate and a great one shows up in gloss retention after year eight, not in the first-year data sheet.”</a:t>
            </a:r>
            <a:endParaRPr lang="en-US" sz="1200" dirty="0"/>
          </a:p>
        </p:txBody>
      </p:sp>
      <p:sp>
        <p:nvSpPr>
          <p:cNvPr id="12" name="Shape 10"/>
          <p:cNvSpPr/>
          <p:nvPr/>
        </p:nvSpPr>
        <p:spPr>
          <a:xfrm>
            <a:off x="8001000" y="1783080"/>
            <a:ext cx="3291840" cy="3246120"/>
          </a:xfrm>
          <a:prstGeom prst="rect">
            <a:avLst/>
          </a:prstGeom>
          <a:solidFill>
            <a:srgbClr val="F2F3F0"/>
          </a:solidFill>
          <a:ln w="9525">
            <a:solidFill>
              <a:srgbClr val="D6D9D3"/>
            </a:solidFill>
            <a:prstDash val="solid"/>
          </a:ln>
        </p:spPr>
      </p:sp>
      <p:sp>
        <p:nvSpPr>
          <p:cNvPr id="13" name="Text 11"/>
          <p:cNvSpPr/>
          <p:nvPr/>
        </p:nvSpPr>
        <p:spPr>
          <a:xfrm>
            <a:off x="8257032" y="1993392"/>
            <a:ext cx="2834640" cy="274320"/>
          </a:xfrm>
          <a:prstGeom prst="rect">
            <a:avLst/>
          </a:prstGeom>
          <a:noFill/>
          <a:ln/>
        </p:spPr>
        <p:txBody>
          <a:bodyPr wrap="square" lIns="0" tIns="0" rIns="0" bIns="0" rtlCol="0" anchor="ctr"/>
          <a:lstStyle/>
          <a:p>
            <a:pPr indent="0" marL="0">
              <a:buNone/>
            </a:pPr>
            <a:r>
              <a:rPr lang="en-US" sz="950" spc="120" kern="0" dirty="0">
                <a:solidFill>
                  <a:srgbClr val="4B3BD6"/>
                </a:solidFill>
                <a:latin typeface="Courier New" pitchFamily="34" charset="0"/>
                <a:ea typeface="Courier New" pitchFamily="34" charset="-122"/>
                <a:cs typeface="Courier New" pitchFamily="34" charset="-120"/>
              </a:rPr>
              <a:t>DISPLACEMENT</a:t>
            </a:r>
            <a:endParaRPr lang="en-US" sz="950" dirty="0"/>
          </a:p>
        </p:txBody>
      </p:sp>
      <p:sp>
        <p:nvSpPr>
          <p:cNvPr id="14" name="Text 12"/>
          <p:cNvSpPr/>
          <p:nvPr/>
        </p:nvSpPr>
        <p:spPr>
          <a:xfrm>
            <a:off x="8257032" y="2286000"/>
            <a:ext cx="2834640" cy="292608"/>
          </a:xfrm>
          <a:prstGeom prst="rect">
            <a:avLst/>
          </a:prstGeom>
          <a:noFill/>
          <a:ln/>
        </p:spPr>
        <p:txBody>
          <a:bodyPr wrap="square" lIns="0" tIns="0" rIns="0" bIns="0" rtlCol="0" anchor="ctr"/>
          <a:lstStyle/>
          <a:p>
            <a:pPr indent="0" marL="0">
              <a:buNone/>
            </a:pPr>
            <a:r>
              <a:rPr lang="en-US" sz="1500" b="1" dirty="0">
                <a:solidFill>
                  <a:srgbClr val="14161A"/>
                </a:solidFill>
                <a:latin typeface="Arial" pitchFamily="34" charset="0"/>
                <a:ea typeface="Arial" pitchFamily="34" charset="-122"/>
                <a:cs typeface="Arial" pitchFamily="34" charset="-120"/>
              </a:rPr>
              <a:t>3M Commercial Graphics</a:t>
            </a:r>
            <a:endParaRPr lang="en-US" sz="1500" dirty="0"/>
          </a:p>
        </p:txBody>
      </p:sp>
      <p:sp>
        <p:nvSpPr>
          <p:cNvPr id="15" name="Text 13"/>
          <p:cNvSpPr/>
          <p:nvPr/>
        </p:nvSpPr>
        <p:spPr>
          <a:xfrm>
            <a:off x="8257032" y="2670048"/>
            <a:ext cx="2788920" cy="2194560"/>
          </a:xfrm>
          <a:prstGeom prst="rect">
            <a:avLst/>
          </a:prstGeom>
          <a:noFill/>
          <a:ln/>
        </p:spPr>
        <p:txBody>
          <a:bodyPr wrap="square" lIns="0" tIns="0" rIns="0" bIns="0" rtlCol="0" anchor="ctr"/>
          <a:lstStyle/>
          <a:p>
            <a:pPr indent="0" marL="0">
              <a:lnSpc>
                <a:spcPts val="1650"/>
              </a:lnSpc>
              <a:buNone/>
            </a:pPr>
            <a:r>
              <a:rPr lang="en-US" sz="1200" dirty="0">
                <a:solidFill>
                  <a:srgbClr val="4A5058"/>
                </a:solidFill>
                <a:latin typeface="Arial" pitchFamily="34" charset="0"/>
                <a:ea typeface="Arial" pitchFamily="34" charset="-122"/>
                <a:cs typeface="Arial" pitchFamily="34" charset="-120"/>
              </a:rPr>
              <a:t>“The UV ceiling of acrylic overlaminates versus PVF is worth a look. … No need to jump on a call, just let me know if useful.”</a:t>
            </a:r>
            <a:endParaRPr lang="en-US" sz="1200" dirty="0"/>
          </a:p>
        </p:txBody>
      </p:sp>
      <p:sp>
        <p:nvSpPr>
          <p:cNvPr id="16" name="Text 14"/>
          <p:cNvSpPr/>
          <p:nvPr/>
        </p:nvSpPr>
        <p:spPr>
          <a:xfrm>
            <a:off x="777240" y="5257800"/>
            <a:ext cx="10515600" cy="457200"/>
          </a:xfrm>
          <a:prstGeom prst="rect">
            <a:avLst/>
          </a:prstGeom>
          <a:noFill/>
          <a:ln/>
        </p:spPr>
        <p:txBody>
          <a:bodyPr wrap="square" lIns="0" tIns="0" rIns="0" bIns="0" rtlCol="0" anchor="ctr"/>
          <a:lstStyle/>
          <a:p>
            <a:pPr indent="0" marL="0">
              <a:lnSpc>
                <a:spcPts val="2000"/>
              </a:lnSpc>
              <a:buNone/>
            </a:pPr>
            <a:r>
              <a:rPr lang="en-US" sz="1450" dirty="0">
                <a:solidFill>
                  <a:srgbClr val="14161A"/>
                </a:solidFill>
                <a:latin typeface="Arial" pitchFamily="34" charset="0"/>
                <a:ea typeface="Arial" pitchFamily="34" charset="-122"/>
                <a:cs typeface="Arial" pitchFamily="34" charset="-120"/>
              </a:rPr>
              <a:t>None of these were templated. Each opening comes from a signal found during enrichment, and every claim traces to a source URL a rep can click.</a:t>
            </a:r>
            <a:endParaRPr lang="en-US" sz="1450" dirty="0"/>
          </a:p>
        </p:txBody>
      </p:sp>
      <p:sp>
        <p:nvSpPr>
          <p:cNvPr id="17" name="Text 15"/>
          <p:cNvSpPr/>
          <p:nvPr/>
        </p:nvSpPr>
        <p:spPr>
          <a:xfrm>
            <a:off x="777240" y="5806440"/>
            <a:ext cx="10515600" cy="457200"/>
          </a:xfrm>
          <a:prstGeom prst="rect">
            <a:avLst/>
          </a:prstGeom>
          <a:noFill/>
          <a:ln/>
        </p:spPr>
        <p:txBody>
          <a:bodyPr wrap="square" lIns="0" tIns="0" rIns="0" bIns="0" rtlCol="0" anchor="ctr"/>
          <a:lstStyle/>
          <a:p>
            <a:pPr indent="0" marL="0">
              <a:lnSpc>
                <a:spcPts val="1800"/>
              </a:lnSpc>
              <a:buNone/>
            </a:pPr>
            <a:r>
              <a:rPr lang="en-US" sz="1300" i="1" dirty="0">
                <a:solidFill>
                  <a:srgbClr val="7D848D"/>
                </a:solidFill>
                <a:latin typeface="Arial" pitchFamily="34" charset="0"/>
                <a:ea typeface="Arial" pitchFamily="34" charset="-122"/>
                <a:cs typeface="Arial" pitchFamily="34" charset="-120"/>
              </a:rPr>
              <a:t>A rep opens a queue of these, edits or approves, and sends. The system does the research and the first draft; the judgement stays human.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SCORING</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3000" b="1" dirty="0">
                <a:solidFill>
                  <a:srgbClr val="14161A"/>
                </a:solidFill>
                <a:latin typeface="Arial" pitchFamily="34" charset="0"/>
                <a:ea typeface="Arial" pitchFamily="34" charset="-122"/>
                <a:cs typeface="Arial" pitchFamily="34" charset="-120"/>
              </a:rPr>
              <a:t>The model gathers evidence. Python computes the score.</a:t>
            </a:r>
            <a:endParaRPr lang="en-US" sz="3000" dirty="0"/>
          </a:p>
        </p:txBody>
      </p:sp>
      <p:sp>
        <p:nvSpPr>
          <p:cNvPr id="4" name="Shape 2"/>
          <p:cNvSpPr/>
          <p:nvPr/>
        </p:nvSpPr>
        <p:spPr>
          <a:xfrm>
            <a:off x="777240" y="1783080"/>
            <a:ext cx="5029200" cy="2286000"/>
          </a:xfrm>
          <a:prstGeom prst="rect">
            <a:avLst/>
          </a:prstGeom>
          <a:solidFill>
            <a:srgbClr val="FFFFFF"/>
          </a:solidFill>
          <a:ln w="15240">
            <a:solidFill>
              <a:srgbClr val="4B3BD6"/>
            </a:solidFill>
            <a:prstDash val="solid"/>
          </a:ln>
        </p:spPr>
      </p:sp>
      <p:sp>
        <p:nvSpPr>
          <p:cNvPr id="5" name="Text 3"/>
          <p:cNvSpPr/>
          <p:nvPr/>
        </p:nvSpPr>
        <p:spPr>
          <a:xfrm>
            <a:off x="1097280" y="2011680"/>
            <a:ext cx="4389120" cy="274320"/>
          </a:xfrm>
          <a:prstGeom prst="rect">
            <a:avLst/>
          </a:prstGeom>
          <a:noFill/>
          <a:ln/>
        </p:spPr>
        <p:txBody>
          <a:bodyPr wrap="square" lIns="0" tIns="0" rIns="0" bIns="0" rtlCol="0" anchor="ctr"/>
          <a:lstStyle/>
          <a:p>
            <a:pPr indent="0" marL="0">
              <a:buNone/>
            </a:pPr>
            <a:r>
              <a:rPr lang="en-US" sz="1100" spc="140" kern="0" dirty="0">
                <a:solidFill>
                  <a:srgbClr val="4B3BD6"/>
                </a:solidFill>
                <a:latin typeface="Courier New" pitchFamily="34" charset="0"/>
                <a:ea typeface="Courier New" pitchFamily="34" charset="-122"/>
                <a:cs typeface="Courier New" pitchFamily="34" charset="-120"/>
              </a:rPr>
              <a:t>MODEL DOES</a:t>
            </a:r>
            <a:endParaRPr lang="en-US" sz="1100" dirty="0"/>
          </a:p>
        </p:txBody>
      </p:sp>
      <p:sp>
        <p:nvSpPr>
          <p:cNvPr id="6" name="Text 4"/>
          <p:cNvSpPr/>
          <p:nvPr/>
        </p:nvSpPr>
        <p:spPr>
          <a:xfrm>
            <a:off x="1097280" y="2377440"/>
            <a:ext cx="4389120" cy="15544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4A5058"/>
                </a:solidFill>
                <a:latin typeface="Arial" pitchFamily="34" charset="0"/>
                <a:ea typeface="Arial" pitchFamily="34" charset="-122"/>
                <a:cs typeface="Arial" pitchFamily="34" charset="-120"/>
              </a:rPr>
              <a:t>Reads the evidence gathered for one company</a:t>
            </a:r>
            <a:endParaRPr lang="en-US" sz="1300" dirty="0"/>
          </a:p>
          <a:p>
            <a:pPr marL="342900" indent="-342900">
              <a:spcAft>
                <a:spcPts val="800"/>
              </a:spcAft>
              <a:buSzPct val="100000"/>
              <a:buChar char="•"/>
            </a:pPr>
            <a:r>
              <a:rPr lang="en-US" sz="1300" dirty="0">
                <a:solidFill>
                  <a:srgbClr val="4A5058"/>
                </a:solidFill>
                <a:latin typeface="Arial" pitchFamily="34" charset="0"/>
                <a:ea typeface="Arial" pitchFamily="34" charset="-122"/>
                <a:cs typeface="Arial" pitchFamily="34" charset="-120"/>
              </a:rPr>
              <a:t>Picks a level off the scale for each dimension</a:t>
            </a:r>
            <a:endParaRPr lang="en-US" sz="1300" dirty="0"/>
          </a:p>
          <a:p>
            <a:pPr marL="342900" indent="-342900">
              <a:spcAft>
                <a:spcPts val="800"/>
              </a:spcAft>
              <a:buSzPct val="100000"/>
              <a:buChar char="•"/>
            </a:pPr>
            <a:r>
              <a:rPr lang="en-US" sz="1300" dirty="0">
                <a:solidFill>
                  <a:srgbClr val="4A5058"/>
                </a:solidFill>
                <a:latin typeface="Arial" pitchFamily="34" charset="0"/>
                <a:ea typeface="Arial" pitchFamily="34" charset="-122"/>
                <a:cs typeface="Arial" pitchFamily="34" charset="-120"/>
              </a:rPr>
              <a:t>Quotes the fact that decided it</a:t>
            </a:r>
            <a:endParaRPr lang="en-US" sz="1300" dirty="0"/>
          </a:p>
        </p:txBody>
      </p:sp>
      <p:sp>
        <p:nvSpPr>
          <p:cNvPr id="7" name="Shape 5"/>
          <p:cNvSpPr/>
          <p:nvPr/>
        </p:nvSpPr>
        <p:spPr>
          <a:xfrm>
            <a:off x="6217920" y="1783080"/>
            <a:ext cx="5029200" cy="2286000"/>
          </a:xfrm>
          <a:prstGeom prst="rect">
            <a:avLst/>
          </a:prstGeom>
          <a:solidFill>
            <a:srgbClr val="FFFFFF"/>
          </a:solidFill>
          <a:ln w="15240">
            <a:solidFill>
              <a:srgbClr val="14161A"/>
            </a:solidFill>
            <a:prstDash val="solid"/>
          </a:ln>
        </p:spPr>
      </p:sp>
      <p:sp>
        <p:nvSpPr>
          <p:cNvPr id="8" name="Text 6"/>
          <p:cNvSpPr/>
          <p:nvPr/>
        </p:nvSpPr>
        <p:spPr>
          <a:xfrm>
            <a:off x="6537960" y="2011680"/>
            <a:ext cx="4389120" cy="274320"/>
          </a:xfrm>
          <a:prstGeom prst="rect">
            <a:avLst/>
          </a:prstGeom>
          <a:noFill/>
          <a:ln/>
        </p:spPr>
        <p:txBody>
          <a:bodyPr wrap="square" lIns="0" tIns="0" rIns="0" bIns="0" rtlCol="0" anchor="ctr"/>
          <a:lstStyle/>
          <a:p>
            <a:pPr indent="0" marL="0">
              <a:buNone/>
            </a:pPr>
            <a:r>
              <a:rPr lang="en-US" sz="1100" spc="140" kern="0" dirty="0">
                <a:solidFill>
                  <a:srgbClr val="14161A"/>
                </a:solidFill>
                <a:latin typeface="Courier New" pitchFamily="34" charset="0"/>
                <a:ea typeface="Courier New" pitchFamily="34" charset="-122"/>
                <a:cs typeface="Courier New" pitchFamily="34" charset="-120"/>
              </a:rPr>
              <a:t>PYTHON DOES</a:t>
            </a:r>
            <a:endParaRPr lang="en-US" sz="1100" dirty="0"/>
          </a:p>
        </p:txBody>
      </p:sp>
      <p:sp>
        <p:nvSpPr>
          <p:cNvPr id="9" name="Text 7"/>
          <p:cNvSpPr/>
          <p:nvPr/>
        </p:nvSpPr>
        <p:spPr>
          <a:xfrm>
            <a:off x="6537960" y="2377440"/>
            <a:ext cx="4389120" cy="15544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4A5058"/>
                </a:solidFill>
                <a:latin typeface="Arial" pitchFamily="34" charset="0"/>
                <a:ea typeface="Arial" pitchFamily="34" charset="-122"/>
                <a:cs typeface="Arial" pitchFamily="34" charset="-120"/>
              </a:rPr>
              <a:t>Reads weights from config/icp.yaml</a:t>
            </a:r>
            <a:endParaRPr lang="en-US" sz="1300" dirty="0"/>
          </a:p>
          <a:p>
            <a:pPr marL="342900" indent="-342900">
              <a:spcAft>
                <a:spcPts val="800"/>
              </a:spcAft>
              <a:buSzPct val="100000"/>
              <a:buChar char="•"/>
            </a:pPr>
            <a:r>
              <a:rPr lang="en-US" sz="1300" dirty="0">
                <a:solidFill>
                  <a:srgbClr val="4A5058"/>
                </a:solidFill>
                <a:latin typeface="Arial" pitchFamily="34" charset="0"/>
                <a:ea typeface="Arial" pitchFamily="34" charset="-122"/>
                <a:cs typeface="Arial" pitchFamily="34" charset="-120"/>
              </a:rPr>
              <a:t>Multiplies, normalises, assigns the tier</a:t>
            </a:r>
            <a:endParaRPr lang="en-US" sz="1300" dirty="0"/>
          </a:p>
          <a:p>
            <a:pPr marL="342900" indent="-342900">
              <a:spcAft>
                <a:spcPts val="800"/>
              </a:spcAft>
              <a:buSzPct val="100000"/>
              <a:buChar char="•"/>
            </a:pPr>
            <a:r>
              <a:rPr lang="en-US" sz="1300" dirty="0">
                <a:solidFill>
                  <a:srgbClr val="4A5058"/>
                </a:solidFill>
                <a:latin typeface="Arial" pitchFamily="34" charset="0"/>
                <a:ea typeface="Arial" pitchFamily="34" charset="-122"/>
                <a:cs typeface="Arial" pitchFamily="34" charset="-120"/>
              </a:rPr>
              <a:t>Never asks the model for a total</a:t>
            </a:r>
            <a:endParaRPr lang="en-US" sz="1300" dirty="0"/>
          </a:p>
        </p:txBody>
      </p:sp>
      <p:sp>
        <p:nvSpPr>
          <p:cNvPr id="10" name="Text 8"/>
          <p:cNvSpPr/>
          <p:nvPr/>
        </p:nvSpPr>
        <p:spPr>
          <a:xfrm>
            <a:off x="777240" y="4343400"/>
            <a:ext cx="5486400" cy="320040"/>
          </a:xfrm>
          <a:prstGeom prst="rect">
            <a:avLst/>
          </a:prstGeom>
          <a:noFill/>
          <a:ln/>
        </p:spPr>
        <p:txBody>
          <a:bodyPr wrap="square" lIns="0" tIns="0" rIns="0" bIns="0" rtlCol="0" anchor="ctr"/>
          <a:lstStyle/>
          <a:p>
            <a:pPr indent="0" marL="0">
              <a:buNone/>
            </a:pPr>
            <a:r>
              <a:rPr lang="en-US" sz="1700" b="1" dirty="0">
                <a:solidFill>
                  <a:srgbClr val="14161A"/>
                </a:solidFill>
                <a:latin typeface="Arial" pitchFamily="34" charset="0"/>
                <a:ea typeface="Arial" pitchFamily="34" charset="-122"/>
                <a:cs typeface="Arial" pitchFamily="34" charset="-120"/>
              </a:rPr>
              <a:t>What that buys</a:t>
            </a:r>
            <a:endParaRPr lang="en-US" sz="1700" dirty="0"/>
          </a:p>
        </p:txBody>
      </p:sp>
      <p:sp>
        <p:nvSpPr>
          <p:cNvPr id="11" name="Text 9"/>
          <p:cNvSpPr/>
          <p:nvPr/>
        </p:nvSpPr>
        <p:spPr>
          <a:xfrm>
            <a:off x="777240" y="4754880"/>
            <a:ext cx="10515600" cy="109728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4A5058"/>
                </a:solidFill>
                <a:latin typeface="Arial" pitchFamily="34" charset="0"/>
                <a:ea typeface="Arial" pitchFamily="34" charset="-122"/>
                <a:cs typeface="Arial" pitchFamily="34" charset="-120"/>
              </a:rPr>
              <a:t>Reruns are stable. Same evidence, same score.</a:t>
            </a:r>
            <a:endParaRPr lang="en-US" sz="1400" dirty="0"/>
          </a:p>
          <a:p>
            <a:pPr marL="342900" indent="-342900">
              <a:spcAft>
                <a:spcPts val="700"/>
              </a:spcAft>
              <a:buSzPct val="100000"/>
              <a:buChar char="•"/>
            </a:pPr>
            <a:r>
              <a:rPr lang="en-US" sz="1400" dirty="0">
                <a:solidFill>
                  <a:srgbClr val="4A5058"/>
                </a:solidFill>
                <a:latin typeface="Arial" pitchFamily="34" charset="0"/>
                <a:ea typeface="Arial" pitchFamily="34" charset="-122"/>
                <a:cs typeface="Arial" pitchFamily="34" charset="-120"/>
              </a:rPr>
              <a:t>Every score decomposes into named dimensions a rep can audit.</a:t>
            </a:r>
            <a:endParaRPr lang="en-US" sz="1400" dirty="0"/>
          </a:p>
          <a:p>
            <a:pPr marL="342900" indent="-342900">
              <a:spcAft>
                <a:spcPts val="700"/>
              </a:spcAft>
              <a:buSzPct val="100000"/>
              <a:buChar char="•"/>
            </a:pPr>
            <a:r>
              <a:rPr lang="en-US" sz="1400" dirty="0">
                <a:solidFill>
                  <a:srgbClr val="4A5058"/>
                </a:solidFill>
                <a:latin typeface="Arial" pitchFamily="34" charset="0"/>
                <a:ea typeface="Arial" pitchFamily="34" charset="-122"/>
                <a:cs typeface="Arial" pitchFamily="34" charset="-120"/>
              </a:rPr>
              <a:t>Retuning the rubric is a text edit, not 800 model calls.</a:t>
            </a:r>
            <a:endParaRPr lang="en-US" sz="1400" dirty="0"/>
          </a:p>
        </p:txBody>
      </p:sp>
      <p:sp>
        <p:nvSpPr>
          <p:cNvPr id="12" name="Text 10"/>
          <p:cNvSpPr/>
          <p:nvPr/>
        </p:nvSpPr>
        <p:spPr>
          <a:xfrm>
            <a:off x="777240" y="5943600"/>
            <a:ext cx="10515600" cy="365760"/>
          </a:xfrm>
          <a:prstGeom prst="rect">
            <a:avLst/>
          </a:prstGeom>
          <a:noFill/>
          <a:ln/>
        </p:spPr>
        <p:txBody>
          <a:bodyPr wrap="square" lIns="0" tIns="0" rIns="0" bIns="0" rtlCol="0" anchor="ctr"/>
          <a:lstStyle/>
          <a:p>
            <a:pPr indent="0" marL="0">
              <a:buNone/>
            </a:pPr>
            <a:r>
              <a:rPr lang="en-US" sz="1300" i="1" dirty="0">
                <a:solidFill>
                  <a:srgbClr val="7D848D"/>
                </a:solidFill>
                <a:latin typeface="Arial" pitchFamily="34" charset="0"/>
                <a:ea typeface="Arial" pitchFamily="34" charset="-122"/>
                <a:cs typeface="Arial" pitchFamily="34" charset="-120"/>
              </a:rPr>
              <a:t>Asking a model for “a score out of 100” returns a number that feels right and cannot be defended, adjusted, or explained.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THE SAFETY GATE</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2800" b="1" dirty="0">
                <a:solidFill>
                  <a:srgbClr val="14161A"/>
                </a:solidFill>
                <a:latin typeface="Arial" pitchFamily="34" charset="0"/>
                <a:ea typeface="Arial" pitchFamily="34" charset="-122"/>
                <a:cs typeface="Arial" pitchFamily="34" charset="-120"/>
              </a:rPr>
              <a:t>Drafts are checked by a second pass that never saw the writing</a:t>
            </a:r>
            <a:endParaRPr lang="en-US" sz="2800" dirty="0"/>
          </a:p>
        </p:txBody>
      </p:sp>
      <p:sp>
        <p:nvSpPr>
          <p:cNvPr id="4" name="Text 2"/>
          <p:cNvSpPr/>
          <p:nvPr/>
        </p:nvSpPr>
        <p:spPr>
          <a:xfrm>
            <a:off x="777240" y="1691640"/>
            <a:ext cx="10424160" cy="548640"/>
          </a:xfrm>
          <a:prstGeom prst="rect">
            <a:avLst/>
          </a:prstGeom>
          <a:noFill/>
          <a:ln/>
        </p:spPr>
        <p:txBody>
          <a:bodyPr wrap="square" lIns="0" tIns="0" rIns="0" bIns="0" rtlCol="0" anchor="ctr"/>
          <a:lstStyle/>
          <a:p>
            <a:pPr indent="0" marL="0">
              <a:lnSpc>
                <a:spcPts val="2000"/>
              </a:lnSpc>
              <a:buNone/>
            </a:pPr>
            <a:r>
              <a:rPr lang="en-US" sz="1400" dirty="0">
                <a:solidFill>
                  <a:srgbClr val="4A5058"/>
                </a:solidFill>
                <a:latin typeface="Arial" pitchFamily="34" charset="0"/>
                <a:ea typeface="Arial" pitchFamily="34" charset="-122"/>
                <a:cs typeface="Arial" pitchFamily="34" charset="-120"/>
              </a:rPr>
              <a:t>A note confidently referencing a product line a company does not make is worse than a generic one. That is the failure that gets sales AI removed from a company, so the check is not decoration.</a:t>
            </a:r>
            <a:endParaRPr lang="en-US" sz="1400" dirty="0"/>
          </a:p>
        </p:txBody>
      </p:sp>
      <p:sp>
        <p:nvSpPr>
          <p:cNvPr id="5" name="Shape 3"/>
          <p:cNvSpPr/>
          <p:nvPr/>
        </p:nvSpPr>
        <p:spPr>
          <a:xfrm>
            <a:off x="777240" y="2514600"/>
            <a:ext cx="1371600" cy="685800"/>
          </a:xfrm>
          <a:prstGeom prst="rect">
            <a:avLst/>
          </a:prstGeom>
          <a:solidFill>
            <a:srgbClr val="4B3BD6"/>
          </a:solidFill>
          <a:ln/>
        </p:spPr>
      </p:sp>
      <p:sp>
        <p:nvSpPr>
          <p:cNvPr id="6" name="Text 4"/>
          <p:cNvSpPr/>
          <p:nvPr/>
        </p:nvSpPr>
        <p:spPr>
          <a:xfrm>
            <a:off x="777240" y="2514600"/>
            <a:ext cx="137160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WRITE</a:t>
            </a:r>
            <a:endParaRPr lang="en-US" sz="1200" dirty="0"/>
          </a:p>
        </p:txBody>
      </p:sp>
      <p:sp>
        <p:nvSpPr>
          <p:cNvPr id="7" name="Text 5"/>
          <p:cNvSpPr/>
          <p:nvPr/>
        </p:nvSpPr>
        <p:spPr>
          <a:xfrm>
            <a:off x="2423160" y="2514600"/>
            <a:ext cx="8778240" cy="685800"/>
          </a:xfrm>
          <a:prstGeom prst="rect">
            <a:avLst/>
          </a:prstGeom>
          <a:noFill/>
          <a:ln/>
        </p:spPr>
        <p:txBody>
          <a:bodyPr wrap="square" lIns="0" tIns="0" rIns="0" bIns="0" rtlCol="0" anchor="ctr"/>
          <a:lstStyle/>
          <a:p>
            <a:pPr indent="0" marL="0">
              <a:buNone/>
            </a:pPr>
            <a:r>
              <a:rPr lang="en-US" sz="1400" dirty="0">
                <a:solidFill>
                  <a:srgbClr val="14161A"/>
                </a:solidFill>
                <a:latin typeface="Arial" pitchFamily="34" charset="0"/>
                <a:ea typeface="Arial" pitchFamily="34" charset="-122"/>
                <a:cs typeface="Arial" pitchFamily="34" charset="-120"/>
              </a:rPr>
              <a:t>Draft the note, and list every factual claim made about the company</a:t>
            </a:r>
            <a:endParaRPr lang="en-US" sz="1400" dirty="0"/>
          </a:p>
        </p:txBody>
      </p:sp>
      <p:sp>
        <p:nvSpPr>
          <p:cNvPr id="8" name="Shape 6"/>
          <p:cNvSpPr/>
          <p:nvPr/>
        </p:nvSpPr>
        <p:spPr>
          <a:xfrm>
            <a:off x="777240" y="3383280"/>
            <a:ext cx="1371600" cy="685800"/>
          </a:xfrm>
          <a:prstGeom prst="rect">
            <a:avLst/>
          </a:prstGeom>
          <a:solidFill>
            <a:srgbClr val="4B3BD6"/>
          </a:solidFill>
          <a:ln/>
        </p:spPr>
      </p:sp>
      <p:sp>
        <p:nvSpPr>
          <p:cNvPr id="9" name="Text 7"/>
          <p:cNvSpPr/>
          <p:nvPr/>
        </p:nvSpPr>
        <p:spPr>
          <a:xfrm>
            <a:off x="777240" y="3383280"/>
            <a:ext cx="137160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VERIFY</a:t>
            </a:r>
            <a:endParaRPr lang="en-US" sz="1200" dirty="0"/>
          </a:p>
        </p:txBody>
      </p:sp>
      <p:sp>
        <p:nvSpPr>
          <p:cNvPr id="10" name="Text 8"/>
          <p:cNvSpPr/>
          <p:nvPr/>
        </p:nvSpPr>
        <p:spPr>
          <a:xfrm>
            <a:off x="2423160" y="3383280"/>
            <a:ext cx="8778240" cy="685800"/>
          </a:xfrm>
          <a:prstGeom prst="rect">
            <a:avLst/>
          </a:prstGeom>
          <a:noFill/>
          <a:ln/>
        </p:spPr>
        <p:txBody>
          <a:bodyPr wrap="square" lIns="0" tIns="0" rIns="0" bIns="0" rtlCol="0" anchor="ctr"/>
          <a:lstStyle/>
          <a:p>
            <a:pPr indent="0" marL="0">
              <a:buNone/>
            </a:pPr>
            <a:r>
              <a:rPr lang="en-US" sz="1400" dirty="0">
                <a:solidFill>
                  <a:srgbClr val="14161A"/>
                </a:solidFill>
                <a:latin typeface="Arial" pitchFamily="34" charset="0"/>
                <a:ea typeface="Arial" pitchFamily="34" charset="-122"/>
                <a:cs typeface="Arial" pitchFamily="34" charset="-120"/>
              </a:rPr>
              <a:t>A separate call, no memory of writing it, tests each claim against the evidence</a:t>
            </a:r>
            <a:endParaRPr lang="en-US" sz="1400" dirty="0"/>
          </a:p>
        </p:txBody>
      </p:sp>
      <p:sp>
        <p:nvSpPr>
          <p:cNvPr id="11" name="Shape 9"/>
          <p:cNvSpPr/>
          <p:nvPr/>
        </p:nvSpPr>
        <p:spPr>
          <a:xfrm>
            <a:off x="777240" y="4251960"/>
            <a:ext cx="1371600" cy="685800"/>
          </a:xfrm>
          <a:prstGeom prst="rect">
            <a:avLst/>
          </a:prstGeom>
          <a:solidFill>
            <a:srgbClr val="B03A2B"/>
          </a:solidFill>
          <a:ln/>
        </p:spPr>
      </p:sp>
      <p:sp>
        <p:nvSpPr>
          <p:cNvPr id="12" name="Text 10"/>
          <p:cNvSpPr/>
          <p:nvPr/>
        </p:nvSpPr>
        <p:spPr>
          <a:xfrm>
            <a:off x="777240" y="4251960"/>
            <a:ext cx="137160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BLOCK</a:t>
            </a:r>
            <a:endParaRPr lang="en-US" sz="1200" dirty="0"/>
          </a:p>
        </p:txBody>
      </p:sp>
      <p:sp>
        <p:nvSpPr>
          <p:cNvPr id="13" name="Text 11"/>
          <p:cNvSpPr/>
          <p:nvPr/>
        </p:nvSpPr>
        <p:spPr>
          <a:xfrm>
            <a:off x="2423160" y="4251960"/>
            <a:ext cx="8778240" cy="685800"/>
          </a:xfrm>
          <a:prstGeom prst="rect">
            <a:avLst/>
          </a:prstGeom>
          <a:noFill/>
          <a:ln/>
        </p:spPr>
        <p:txBody>
          <a:bodyPr wrap="square" lIns="0" tIns="0" rIns="0" bIns="0" rtlCol="0" anchor="ctr"/>
          <a:lstStyle/>
          <a:p>
            <a:pPr indent="0" marL="0">
              <a:buNone/>
            </a:pPr>
            <a:r>
              <a:rPr lang="en-US" sz="1400" dirty="0">
                <a:solidFill>
                  <a:srgbClr val="14161A"/>
                </a:solidFill>
                <a:latin typeface="Arial" pitchFamily="34" charset="0"/>
                <a:ea typeface="Arial" pitchFamily="34" charset="-122"/>
                <a:cs typeface="Arial" pitchFamily="34" charset="-120"/>
              </a:rPr>
              <a:t>Unsupported claims stop the send and surface in the dashboard</a:t>
            </a:r>
            <a:endParaRPr lang="en-US" sz="1400" dirty="0"/>
          </a:p>
        </p:txBody>
      </p:sp>
      <p:sp>
        <p:nvSpPr>
          <p:cNvPr id="14" name="Shape 12"/>
          <p:cNvSpPr/>
          <p:nvPr/>
        </p:nvSpPr>
        <p:spPr>
          <a:xfrm>
            <a:off x="777240" y="5212080"/>
            <a:ext cx="10607040" cy="1051560"/>
          </a:xfrm>
          <a:prstGeom prst="rect">
            <a:avLst/>
          </a:prstGeom>
          <a:solidFill>
            <a:srgbClr val="FBEFEC"/>
          </a:solidFill>
          <a:ln w="12700">
            <a:solidFill>
              <a:srgbClr val="B03A2B"/>
            </a:solidFill>
            <a:prstDash val="solid"/>
          </a:ln>
        </p:spPr>
      </p:sp>
      <p:sp>
        <p:nvSpPr>
          <p:cNvPr id="15" name="Text 13"/>
          <p:cNvSpPr/>
          <p:nvPr/>
        </p:nvSpPr>
        <p:spPr>
          <a:xfrm>
            <a:off x="1051560" y="5349240"/>
            <a:ext cx="4572000" cy="256032"/>
          </a:xfrm>
          <a:prstGeom prst="rect">
            <a:avLst/>
          </a:prstGeom>
          <a:noFill/>
          <a:ln/>
        </p:spPr>
        <p:txBody>
          <a:bodyPr wrap="square" lIns="0" tIns="0" rIns="0" bIns="0" rtlCol="0" anchor="ctr"/>
          <a:lstStyle/>
          <a:p>
            <a:pPr indent="0" marL="0">
              <a:buNone/>
            </a:pPr>
            <a:r>
              <a:rPr lang="en-US" sz="1050" spc="140" kern="0" dirty="0">
                <a:solidFill>
                  <a:srgbClr val="B03A2B"/>
                </a:solidFill>
                <a:latin typeface="Courier New" pitchFamily="34" charset="0"/>
                <a:ea typeface="Courier New" pitchFamily="34" charset="-122"/>
                <a:cs typeface="Courier New" pitchFamily="34" charset="-120"/>
              </a:rPr>
              <a:t>CAUGHT IN THIS RUN</a:t>
            </a:r>
            <a:endParaRPr lang="en-US" sz="1050" dirty="0"/>
          </a:p>
        </p:txBody>
      </p:sp>
      <p:sp>
        <p:nvSpPr>
          <p:cNvPr id="16" name="Text 14"/>
          <p:cNvSpPr/>
          <p:nvPr/>
        </p:nvSpPr>
        <p:spPr>
          <a:xfrm>
            <a:off x="1051560" y="5623560"/>
            <a:ext cx="10058400" cy="548640"/>
          </a:xfrm>
          <a:prstGeom prst="rect">
            <a:avLst/>
          </a:prstGeom>
          <a:noFill/>
          <a:ln/>
        </p:spPr>
        <p:txBody>
          <a:bodyPr wrap="square" lIns="0" tIns="0" rIns="0" bIns="0" rtlCol="0" anchor="ctr"/>
          <a:lstStyle/>
          <a:p>
            <a:pPr indent="0" marL="0">
              <a:lnSpc>
                <a:spcPts val="1800"/>
              </a:lnSpc>
              <a:buNone/>
            </a:pPr>
            <a:r>
              <a:rPr lang="en-US" sz="1350" dirty="0">
                <a:solidFill>
                  <a:srgbClr val="14161A"/>
                </a:solidFill>
                <a:latin typeface="Arial" pitchFamily="34" charset="0"/>
                <a:ea typeface="Arial" pitchFamily="34" charset="-122"/>
                <a:cs typeface="Arial" pitchFamily="34" charset="-120"/>
              </a:rPr>
              <a:t>A draft to Mactac claimed they were moving sustainable substrates into their overlaminating line. Nothing in the evidence supported it. Blocked, flagged, routed to a human.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SCALING</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3100" b="1" dirty="0">
                <a:solidFill>
                  <a:srgbClr val="14161A"/>
                </a:solidFill>
                <a:latin typeface="Arial" pitchFamily="34" charset="0"/>
                <a:ea typeface="Arial" pitchFamily="34" charset="-122"/>
                <a:cs typeface="Arial" pitchFamily="34" charset="-120"/>
              </a:rPr>
              <a:t>New event: a config block. New platform: one file.</a:t>
            </a:r>
            <a:endParaRPr lang="en-US" sz="3100" dirty="0"/>
          </a:p>
        </p:txBody>
      </p:sp>
      <p:sp>
        <p:nvSpPr>
          <p:cNvPr id="4" name="Shape 2"/>
          <p:cNvSpPr/>
          <p:nvPr/>
        </p:nvSpPr>
        <p:spPr>
          <a:xfrm>
            <a:off x="777240" y="1828800"/>
            <a:ext cx="3291840" cy="3017520"/>
          </a:xfrm>
          <a:prstGeom prst="rect">
            <a:avLst/>
          </a:prstGeom>
          <a:solidFill>
            <a:srgbClr val="FFFFFF"/>
          </a:solidFill>
          <a:ln w="9525">
            <a:solidFill>
              <a:srgbClr val="D6D9D3"/>
            </a:solidFill>
            <a:prstDash val="solid"/>
          </a:ln>
        </p:spPr>
      </p:sp>
      <p:sp>
        <p:nvSpPr>
          <p:cNvPr id="5" name="Text 3"/>
          <p:cNvSpPr/>
          <p:nvPr/>
        </p:nvSpPr>
        <p:spPr>
          <a:xfrm>
            <a:off x="1051560" y="2057400"/>
            <a:ext cx="2743200" cy="274320"/>
          </a:xfrm>
          <a:prstGeom prst="rect">
            <a:avLst/>
          </a:prstGeom>
          <a:noFill/>
          <a:ln/>
        </p:spPr>
        <p:txBody>
          <a:bodyPr wrap="square" lIns="0" tIns="0" rIns="0" bIns="0" rtlCol="0" anchor="ctr"/>
          <a:lstStyle/>
          <a:p>
            <a:pPr indent="0" marL="0">
              <a:buNone/>
            </a:pPr>
            <a:r>
              <a:rPr lang="en-US" sz="1100" dirty="0">
                <a:solidFill>
                  <a:srgbClr val="4B3BD6"/>
                </a:solidFill>
                <a:latin typeface="Courier New" pitchFamily="34" charset="0"/>
                <a:ea typeface="Courier New" pitchFamily="34" charset="-122"/>
                <a:cs typeface="Courier New" pitchFamily="34" charset="-120"/>
              </a:rPr>
              <a:t>config/events.yaml</a:t>
            </a:r>
            <a:endParaRPr lang="en-US" sz="1100" dirty="0"/>
          </a:p>
        </p:txBody>
      </p:sp>
      <p:sp>
        <p:nvSpPr>
          <p:cNvPr id="6" name="Text 4"/>
          <p:cNvSpPr/>
          <p:nvPr/>
        </p:nvSpPr>
        <p:spPr>
          <a:xfrm>
            <a:off x="1051560" y="2377440"/>
            <a:ext cx="2743200" cy="365760"/>
          </a:xfrm>
          <a:prstGeom prst="rect">
            <a:avLst/>
          </a:prstGeom>
          <a:noFill/>
          <a:ln/>
        </p:spPr>
        <p:txBody>
          <a:bodyPr wrap="square" lIns="0" tIns="0" rIns="0" bIns="0" rtlCol="0" anchor="ctr"/>
          <a:lstStyle/>
          <a:p>
            <a:pPr indent="0" marL="0">
              <a:buNone/>
            </a:pPr>
            <a:r>
              <a:rPr lang="en-US" sz="1800" b="1" dirty="0">
                <a:solidFill>
                  <a:srgbClr val="14161A"/>
                </a:solidFill>
                <a:latin typeface="Arial" pitchFamily="34" charset="0"/>
                <a:ea typeface="Arial" pitchFamily="34" charset="-122"/>
                <a:cs typeface="Arial" pitchFamily="34" charset="-120"/>
              </a:rPr>
              <a:t>Add an event</a:t>
            </a:r>
            <a:endParaRPr lang="en-US" sz="1800" dirty="0"/>
          </a:p>
        </p:txBody>
      </p:sp>
      <p:sp>
        <p:nvSpPr>
          <p:cNvPr id="7" name="Text 5"/>
          <p:cNvSpPr/>
          <p:nvPr/>
        </p:nvSpPr>
        <p:spPr>
          <a:xfrm>
            <a:off x="1051560" y="2834640"/>
            <a:ext cx="2788920" cy="1828800"/>
          </a:xfrm>
          <a:prstGeom prst="rect">
            <a:avLst/>
          </a:prstGeom>
          <a:noFill/>
          <a:ln/>
        </p:spPr>
        <p:txBody>
          <a:bodyPr wrap="square" lIns="0" tIns="0" rIns="0" bIns="0" rtlCol="0" anchor="ctr"/>
          <a:lstStyle/>
          <a:p>
            <a:pPr indent="0" marL="0">
              <a:lnSpc>
                <a:spcPts val="1700"/>
              </a:lnSpc>
              <a:buNone/>
            </a:pPr>
            <a:r>
              <a:rPr lang="en-US" sz="1250" dirty="0">
                <a:solidFill>
                  <a:srgbClr val="4A5058"/>
                </a:solidFill>
                <a:latin typeface="Arial" pitchFamily="34" charset="0"/>
                <a:ea typeface="Arial" pitchFamily="34" charset="-122"/>
                <a:cs typeface="Arial" pitchFamily="34" charset="-120"/>
              </a:rPr>
              <a:t>ISA Sign Expo and PRINTING United are different shows, different associations, different cities. They cost the same as one show, because both run on MapYourShow along with several hundred others.</a:t>
            </a:r>
            <a:endParaRPr lang="en-US" sz="1250" dirty="0"/>
          </a:p>
        </p:txBody>
      </p:sp>
      <p:sp>
        <p:nvSpPr>
          <p:cNvPr id="8" name="Shape 6"/>
          <p:cNvSpPr/>
          <p:nvPr/>
        </p:nvSpPr>
        <p:spPr>
          <a:xfrm>
            <a:off x="4389120" y="1828800"/>
            <a:ext cx="3291840" cy="3017520"/>
          </a:xfrm>
          <a:prstGeom prst="rect">
            <a:avLst/>
          </a:prstGeom>
          <a:solidFill>
            <a:srgbClr val="FFFFFF"/>
          </a:solidFill>
          <a:ln w="9525">
            <a:solidFill>
              <a:srgbClr val="D6D9D3"/>
            </a:solidFill>
            <a:prstDash val="solid"/>
          </a:ln>
        </p:spPr>
      </p:sp>
      <p:sp>
        <p:nvSpPr>
          <p:cNvPr id="9" name="Text 7"/>
          <p:cNvSpPr/>
          <p:nvPr/>
        </p:nvSpPr>
        <p:spPr>
          <a:xfrm>
            <a:off x="4663440" y="2057400"/>
            <a:ext cx="2743200" cy="274320"/>
          </a:xfrm>
          <a:prstGeom prst="rect">
            <a:avLst/>
          </a:prstGeom>
          <a:noFill/>
          <a:ln/>
        </p:spPr>
        <p:txBody>
          <a:bodyPr wrap="square" lIns="0" tIns="0" rIns="0" bIns="0" rtlCol="0" anchor="ctr"/>
          <a:lstStyle/>
          <a:p>
            <a:pPr indent="0" marL="0">
              <a:buNone/>
            </a:pPr>
            <a:r>
              <a:rPr lang="en-US" sz="1100" dirty="0">
                <a:solidFill>
                  <a:srgbClr val="4B3BD6"/>
                </a:solidFill>
                <a:latin typeface="Courier New" pitchFamily="34" charset="0"/>
                <a:ea typeface="Courier New" pitchFamily="34" charset="-122"/>
                <a:cs typeface="Courier New" pitchFamily="34" charset="-120"/>
              </a:rPr>
              <a:t>src/sources/</a:t>
            </a:r>
            <a:endParaRPr lang="en-US" sz="1100" dirty="0"/>
          </a:p>
        </p:txBody>
      </p:sp>
      <p:sp>
        <p:nvSpPr>
          <p:cNvPr id="10" name="Text 8"/>
          <p:cNvSpPr/>
          <p:nvPr/>
        </p:nvSpPr>
        <p:spPr>
          <a:xfrm>
            <a:off x="4663440" y="2377440"/>
            <a:ext cx="2743200" cy="365760"/>
          </a:xfrm>
          <a:prstGeom prst="rect">
            <a:avLst/>
          </a:prstGeom>
          <a:noFill/>
          <a:ln/>
        </p:spPr>
        <p:txBody>
          <a:bodyPr wrap="square" lIns="0" tIns="0" rIns="0" bIns="0" rtlCol="0" anchor="ctr"/>
          <a:lstStyle/>
          <a:p>
            <a:pPr indent="0" marL="0">
              <a:buNone/>
            </a:pPr>
            <a:r>
              <a:rPr lang="en-US" sz="1800" b="1" dirty="0">
                <a:solidFill>
                  <a:srgbClr val="14161A"/>
                </a:solidFill>
                <a:latin typeface="Arial" pitchFamily="34" charset="0"/>
                <a:ea typeface="Arial" pitchFamily="34" charset="-122"/>
                <a:cs typeface="Arial" pitchFamily="34" charset="-120"/>
              </a:rPr>
              <a:t>Add a platform</a:t>
            </a:r>
            <a:endParaRPr lang="en-US" sz="1800" dirty="0"/>
          </a:p>
        </p:txBody>
      </p:sp>
      <p:sp>
        <p:nvSpPr>
          <p:cNvPr id="11" name="Text 9"/>
          <p:cNvSpPr/>
          <p:nvPr/>
        </p:nvSpPr>
        <p:spPr>
          <a:xfrm>
            <a:off x="4663440" y="2834640"/>
            <a:ext cx="2788920" cy="1828800"/>
          </a:xfrm>
          <a:prstGeom prst="rect">
            <a:avLst/>
          </a:prstGeom>
          <a:noFill/>
          <a:ln/>
        </p:spPr>
        <p:txBody>
          <a:bodyPr wrap="square" lIns="0" tIns="0" rIns="0" bIns="0" rtlCol="0" anchor="ctr"/>
          <a:lstStyle/>
          <a:p>
            <a:pPr indent="0" marL="0">
              <a:lnSpc>
                <a:spcPts val="1700"/>
              </a:lnSpc>
              <a:buNone/>
            </a:pPr>
            <a:r>
              <a:rPr lang="en-US" sz="1250" dirty="0">
                <a:solidFill>
                  <a:srgbClr val="4A5058"/>
                </a:solidFill>
                <a:latin typeface="Arial" pitchFamily="34" charset="0"/>
                <a:ea typeface="Arial" pitchFamily="34" charset="-122"/>
                <a:cs typeface="Arial" pitchFamily="34" charset="-120"/>
              </a:rPr>
              <a:t>One adapter reads one kind of directory, not one event. Messe Frankfurt was a second file, and it reports a coverage gap rather than returning junk when a directory renders client-side.</a:t>
            </a:r>
            <a:endParaRPr lang="en-US" sz="1250" dirty="0"/>
          </a:p>
        </p:txBody>
      </p:sp>
      <p:sp>
        <p:nvSpPr>
          <p:cNvPr id="12" name="Shape 10"/>
          <p:cNvSpPr/>
          <p:nvPr/>
        </p:nvSpPr>
        <p:spPr>
          <a:xfrm>
            <a:off x="8001000" y="1828800"/>
            <a:ext cx="3291840" cy="3017520"/>
          </a:xfrm>
          <a:prstGeom prst="rect">
            <a:avLst/>
          </a:prstGeom>
          <a:solidFill>
            <a:srgbClr val="FFFFFF"/>
          </a:solidFill>
          <a:ln w="9525">
            <a:solidFill>
              <a:srgbClr val="D6D9D3"/>
            </a:solidFill>
            <a:prstDash val="solid"/>
          </a:ln>
        </p:spPr>
      </p:sp>
      <p:sp>
        <p:nvSpPr>
          <p:cNvPr id="13" name="Text 11"/>
          <p:cNvSpPr/>
          <p:nvPr/>
        </p:nvSpPr>
        <p:spPr>
          <a:xfrm>
            <a:off x="8275320" y="2057400"/>
            <a:ext cx="2743200" cy="274320"/>
          </a:xfrm>
          <a:prstGeom prst="rect">
            <a:avLst/>
          </a:prstGeom>
          <a:noFill/>
          <a:ln/>
        </p:spPr>
        <p:txBody>
          <a:bodyPr wrap="square" lIns="0" tIns="0" rIns="0" bIns="0" rtlCol="0" anchor="ctr"/>
          <a:lstStyle/>
          <a:p>
            <a:pPr indent="0" marL="0">
              <a:buNone/>
            </a:pPr>
            <a:r>
              <a:rPr lang="en-US" sz="1100" dirty="0">
                <a:solidFill>
                  <a:srgbClr val="4B3BD6"/>
                </a:solidFill>
                <a:latin typeface="Courier New" pitchFamily="34" charset="0"/>
                <a:ea typeface="Courier New" pitchFamily="34" charset="-122"/>
                <a:cs typeface="Courier New" pitchFamily="34" charset="-120"/>
              </a:rPr>
              <a:t>config/icp.yaml</a:t>
            </a:r>
            <a:endParaRPr lang="en-US" sz="1100" dirty="0"/>
          </a:p>
        </p:txBody>
      </p:sp>
      <p:sp>
        <p:nvSpPr>
          <p:cNvPr id="14" name="Text 12"/>
          <p:cNvSpPr/>
          <p:nvPr/>
        </p:nvSpPr>
        <p:spPr>
          <a:xfrm>
            <a:off x="8275320" y="2377440"/>
            <a:ext cx="2743200" cy="365760"/>
          </a:xfrm>
          <a:prstGeom prst="rect">
            <a:avLst/>
          </a:prstGeom>
          <a:noFill/>
          <a:ln/>
        </p:spPr>
        <p:txBody>
          <a:bodyPr wrap="square" lIns="0" tIns="0" rIns="0" bIns="0" rtlCol="0" anchor="ctr"/>
          <a:lstStyle/>
          <a:p>
            <a:pPr indent="0" marL="0">
              <a:buNone/>
            </a:pPr>
            <a:r>
              <a:rPr lang="en-US" sz="1800" b="1" dirty="0">
                <a:solidFill>
                  <a:srgbClr val="14161A"/>
                </a:solidFill>
                <a:latin typeface="Arial" pitchFamily="34" charset="0"/>
                <a:ea typeface="Arial" pitchFamily="34" charset="-122"/>
                <a:cs typeface="Arial" pitchFamily="34" charset="-120"/>
              </a:rPr>
              <a:t>Add a customer</a:t>
            </a:r>
            <a:endParaRPr lang="en-US" sz="1800" dirty="0"/>
          </a:p>
        </p:txBody>
      </p:sp>
      <p:sp>
        <p:nvSpPr>
          <p:cNvPr id="15" name="Text 13"/>
          <p:cNvSpPr/>
          <p:nvPr/>
        </p:nvSpPr>
        <p:spPr>
          <a:xfrm>
            <a:off x="8275320" y="2834640"/>
            <a:ext cx="2788920" cy="1828800"/>
          </a:xfrm>
          <a:prstGeom prst="rect">
            <a:avLst/>
          </a:prstGeom>
          <a:noFill/>
          <a:ln/>
        </p:spPr>
        <p:txBody>
          <a:bodyPr wrap="square" lIns="0" tIns="0" rIns="0" bIns="0" rtlCol="0" anchor="ctr"/>
          <a:lstStyle/>
          <a:p>
            <a:pPr indent="0" marL="0">
              <a:lnSpc>
                <a:spcPts val="1700"/>
              </a:lnSpc>
              <a:buNone/>
            </a:pPr>
            <a:r>
              <a:rPr lang="en-US" sz="1250" dirty="0">
                <a:solidFill>
                  <a:srgbClr val="4A5058"/>
                </a:solidFill>
                <a:latin typeface="Arial" pitchFamily="34" charset="0"/>
                <a:ea typeface="Arial" pitchFamily="34" charset="-122"/>
                <a:cs typeface="Arial" pitchFamily="34" charset="-120"/>
              </a:rPr>
              <a:t>Product description, disqualifiers, rubric dimensions, weights, and the titles worth finding all live in one file. Retargeting Tedlar to a different DuPont line is an edit, not a rewrite.</a:t>
            </a:r>
            <a:endParaRPr lang="en-US" sz="1250" dirty="0"/>
          </a:p>
        </p:txBody>
      </p:sp>
      <p:sp>
        <p:nvSpPr>
          <p:cNvPr id="16" name="Text 14"/>
          <p:cNvSpPr/>
          <p:nvPr/>
        </p:nvSpPr>
        <p:spPr>
          <a:xfrm>
            <a:off x="777240" y="5166360"/>
            <a:ext cx="10515600" cy="320040"/>
          </a:xfrm>
          <a:prstGeom prst="rect">
            <a:avLst/>
          </a:prstGeom>
          <a:noFill/>
          <a:ln/>
        </p:spPr>
        <p:txBody>
          <a:bodyPr wrap="square" lIns="0" tIns="0" rIns="0" bIns="0" rtlCol="0" anchor="ctr"/>
          <a:lstStyle/>
          <a:p>
            <a:pPr indent="0" marL="0">
              <a:buNone/>
            </a:pPr>
            <a:r>
              <a:rPr lang="en-US" sz="1700" b="1" dirty="0">
                <a:solidFill>
                  <a:srgbClr val="14161A"/>
                </a:solidFill>
                <a:latin typeface="Arial" pitchFamily="34" charset="0"/>
                <a:ea typeface="Arial" pitchFamily="34" charset="-122"/>
                <a:cs typeface="Arial" pitchFamily="34" charset="-120"/>
              </a:rPr>
              <a:t>Sales Navigator has no open API, so the pipeline never depends on it</a:t>
            </a:r>
            <a:endParaRPr lang="en-US" sz="1700" dirty="0"/>
          </a:p>
        </p:txBody>
      </p:sp>
      <p:sp>
        <p:nvSpPr>
          <p:cNvPr id="17" name="Text 15"/>
          <p:cNvSpPr/>
          <p:nvPr/>
        </p:nvSpPr>
        <p:spPr>
          <a:xfrm>
            <a:off x="777240" y="5532120"/>
            <a:ext cx="10515600" cy="777240"/>
          </a:xfrm>
          <a:prstGeom prst="rect">
            <a:avLst/>
          </a:prstGeom>
          <a:noFill/>
          <a:ln/>
        </p:spPr>
        <p:txBody>
          <a:bodyPr wrap="square" lIns="0" tIns="0" rIns="0" bIns="0" rtlCol="0" anchor="ctr"/>
          <a:lstStyle/>
          <a:p>
            <a:pPr indent="0" marL="0">
              <a:lnSpc>
                <a:spcPts val="1800"/>
              </a:lnSpc>
              <a:buNone/>
            </a:pPr>
            <a:r>
              <a:rPr lang="en-US" sz="1350" dirty="0">
                <a:solidFill>
                  <a:srgbClr val="4A5058"/>
                </a:solidFill>
                <a:latin typeface="Arial" pitchFamily="34" charset="0"/>
                <a:ea typeface="Arial" pitchFamily="34" charset="-122"/>
                <a:cs typeface="Arial" pitchFamily="34" charset="-120"/>
              </a:rPr>
              <a:t>Access runs through the partner programme, a reseller, or Clay. Names come from public pages instead, and the Sales Navigator link is constructed from the company and the target titles. A rep with a seat clicks into the right filtered search; a rep without one still has a name and a title.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7315200" cy="237744"/>
          </a:xfrm>
          <a:prstGeom prst="rect">
            <a:avLst/>
          </a:prstGeom>
          <a:noFill/>
          <a:ln/>
        </p:spPr>
        <p:txBody>
          <a:bodyPr wrap="square" lIns="0" tIns="0" rIns="0" bIns="0" rtlCol="0" anchor="ctr"/>
          <a:lstStyle/>
          <a:p>
            <a:pPr indent="0" marL="0">
              <a:buNone/>
            </a:pPr>
            <a:r>
              <a:rPr lang="en-US" sz="1050" spc="160" kern="0" dirty="0">
                <a:solidFill>
                  <a:srgbClr val="7D848D"/>
                </a:solidFill>
                <a:latin typeface="Courier New" pitchFamily="34" charset="0"/>
                <a:ea typeface="Courier New" pitchFamily="34" charset="-122"/>
                <a:cs typeface="Courier New" pitchFamily="34" charset="-120"/>
              </a:rPr>
              <a:t>WHAT IT DOES NOT DO</a:t>
            </a:r>
            <a:endParaRPr lang="en-US" sz="1050" dirty="0"/>
          </a:p>
        </p:txBody>
      </p:sp>
      <p:sp>
        <p:nvSpPr>
          <p:cNvPr id="3" name="Text 1"/>
          <p:cNvSpPr/>
          <p:nvPr/>
        </p:nvSpPr>
        <p:spPr>
          <a:xfrm>
            <a:off x="777240" y="822960"/>
            <a:ext cx="10634472" cy="914400"/>
          </a:xfrm>
          <a:prstGeom prst="rect">
            <a:avLst/>
          </a:prstGeom>
          <a:noFill/>
          <a:ln/>
        </p:spPr>
        <p:txBody>
          <a:bodyPr wrap="square" lIns="0" tIns="0" rIns="0" bIns="0" rtlCol="0" anchor="ctr"/>
          <a:lstStyle/>
          <a:p>
            <a:pPr indent="0" marL="0">
              <a:buNone/>
            </a:pPr>
            <a:r>
              <a:rPr lang="en-US" sz="3200" b="1" dirty="0">
                <a:solidFill>
                  <a:srgbClr val="14161A"/>
                </a:solidFill>
                <a:latin typeface="Arial" pitchFamily="34" charset="0"/>
                <a:ea typeface="Arial" pitchFamily="34" charset="-122"/>
                <a:cs typeface="Arial" pitchFamily="34" charset="-120"/>
              </a:rPr>
              <a:t>Where the system says it does not know</a:t>
            </a:r>
            <a:endParaRPr lang="en-US" sz="3200" dirty="0"/>
          </a:p>
        </p:txBody>
      </p:sp>
      <p:sp>
        <p:nvSpPr>
          <p:cNvPr id="4" name="Shape 2"/>
          <p:cNvSpPr/>
          <p:nvPr/>
        </p:nvSpPr>
        <p:spPr>
          <a:xfrm>
            <a:off x="777240" y="1783080"/>
            <a:ext cx="82296" cy="1143000"/>
          </a:xfrm>
          <a:prstGeom prst="rect">
            <a:avLst/>
          </a:prstGeom>
          <a:solidFill>
            <a:srgbClr val="4B3BD6"/>
          </a:solidFill>
          <a:ln/>
        </p:spPr>
      </p:sp>
      <p:sp>
        <p:nvSpPr>
          <p:cNvPr id="5" name="Text 3"/>
          <p:cNvSpPr/>
          <p:nvPr/>
        </p:nvSpPr>
        <p:spPr>
          <a:xfrm>
            <a:off x="1097280" y="1783080"/>
            <a:ext cx="10058400" cy="320040"/>
          </a:xfrm>
          <a:prstGeom prst="rect">
            <a:avLst/>
          </a:prstGeom>
          <a:noFill/>
          <a:ln/>
        </p:spPr>
        <p:txBody>
          <a:bodyPr wrap="square" lIns="0" tIns="0" rIns="0" bIns="0" rtlCol="0" anchor="ctr"/>
          <a:lstStyle/>
          <a:p>
            <a:pPr indent="0" marL="0">
              <a:buNone/>
            </a:pPr>
            <a:r>
              <a:rPr lang="en-US" sz="1700" b="1" dirty="0">
                <a:solidFill>
                  <a:srgbClr val="14161A"/>
                </a:solidFill>
                <a:latin typeface="Arial" pitchFamily="34" charset="0"/>
                <a:ea typeface="Arial" pitchFamily="34" charset="-122"/>
                <a:cs typeface="Arial" pitchFamily="34" charset="-120"/>
              </a:rPr>
              <a:t>No named contact is invented</a:t>
            </a:r>
            <a:endParaRPr lang="en-US" sz="1700" dirty="0"/>
          </a:p>
        </p:txBody>
      </p:sp>
      <p:sp>
        <p:nvSpPr>
          <p:cNvPr id="6" name="Text 4"/>
          <p:cNvSpPr/>
          <p:nvPr/>
        </p:nvSpPr>
        <p:spPr>
          <a:xfrm>
            <a:off x="1097280" y="2148840"/>
            <a:ext cx="10058400" cy="777240"/>
          </a:xfrm>
          <a:prstGeom prst="rect">
            <a:avLst/>
          </a:prstGeom>
          <a:noFill/>
          <a:ln/>
        </p:spPr>
        <p:txBody>
          <a:bodyPr wrap="square" lIns="0" tIns="0" rIns="0" bIns="0" rtlCol="0" anchor="ctr"/>
          <a:lstStyle/>
          <a:p>
            <a:pPr indent="0" marL="0">
              <a:lnSpc>
                <a:spcPts val="1800"/>
              </a:lnSpc>
              <a:buNone/>
            </a:pPr>
            <a:r>
              <a:rPr lang="en-US" sz="1350" dirty="0">
                <a:solidFill>
                  <a:srgbClr val="4A5058"/>
                </a:solidFill>
                <a:latin typeface="Arial" pitchFamily="34" charset="0"/>
                <a:ea typeface="Arial" pitchFamily="34" charset="-122"/>
                <a:cs typeface="Arial" pitchFamily="34" charset="-120"/>
              </a:rPr>
              <a:t>If no public page names a person, the company comes back without one. A plausible fabricated contact is the most damaging output this could produce, because a rep would act on it.</a:t>
            </a:r>
            <a:endParaRPr lang="en-US" sz="1350" dirty="0"/>
          </a:p>
        </p:txBody>
      </p:sp>
      <p:sp>
        <p:nvSpPr>
          <p:cNvPr id="7" name="Shape 5"/>
          <p:cNvSpPr/>
          <p:nvPr/>
        </p:nvSpPr>
        <p:spPr>
          <a:xfrm>
            <a:off x="777240" y="3200400"/>
            <a:ext cx="82296" cy="1143000"/>
          </a:xfrm>
          <a:prstGeom prst="rect">
            <a:avLst/>
          </a:prstGeom>
          <a:solidFill>
            <a:srgbClr val="4B3BD6"/>
          </a:solidFill>
          <a:ln/>
        </p:spPr>
      </p:sp>
      <p:sp>
        <p:nvSpPr>
          <p:cNvPr id="8" name="Text 6"/>
          <p:cNvSpPr/>
          <p:nvPr/>
        </p:nvSpPr>
        <p:spPr>
          <a:xfrm>
            <a:off x="1097280" y="3200400"/>
            <a:ext cx="10058400" cy="320040"/>
          </a:xfrm>
          <a:prstGeom prst="rect">
            <a:avLst/>
          </a:prstGeom>
          <a:noFill/>
          <a:ln/>
        </p:spPr>
        <p:txBody>
          <a:bodyPr wrap="square" lIns="0" tIns="0" rIns="0" bIns="0" rtlCol="0" anchor="ctr"/>
          <a:lstStyle/>
          <a:p>
            <a:pPr indent="0" marL="0">
              <a:buNone/>
            </a:pPr>
            <a:r>
              <a:rPr lang="en-US" sz="1700" b="1" dirty="0">
                <a:solidFill>
                  <a:srgbClr val="14161A"/>
                </a:solidFill>
                <a:latin typeface="Arial" pitchFamily="34" charset="0"/>
                <a:ea typeface="Arial" pitchFamily="34" charset="-122"/>
                <a:cs typeface="Arial" pitchFamily="34" charset="-120"/>
              </a:rPr>
              <a:t>Leverage carries lower confidence than fit</a:t>
            </a:r>
            <a:endParaRPr lang="en-US" sz="1700" dirty="0"/>
          </a:p>
        </p:txBody>
      </p:sp>
      <p:sp>
        <p:nvSpPr>
          <p:cNvPr id="9" name="Text 7"/>
          <p:cNvSpPr/>
          <p:nvPr/>
        </p:nvSpPr>
        <p:spPr>
          <a:xfrm>
            <a:off x="1097280" y="3566160"/>
            <a:ext cx="10058400" cy="777240"/>
          </a:xfrm>
          <a:prstGeom prst="rect">
            <a:avLst/>
          </a:prstGeom>
          <a:noFill/>
          <a:ln/>
        </p:spPr>
        <p:txBody>
          <a:bodyPr wrap="square" lIns="0" tIns="0" rIns="0" bIns="0" rtlCol="0" anchor="ctr"/>
          <a:lstStyle/>
          <a:p>
            <a:pPr indent="0" marL="0">
              <a:lnSpc>
                <a:spcPts val="1800"/>
              </a:lnSpc>
              <a:buNone/>
            </a:pPr>
            <a:r>
              <a:rPr lang="en-US" sz="1350" dirty="0">
                <a:solidFill>
                  <a:srgbClr val="4A5058"/>
                </a:solidFill>
                <a:latin typeface="Arial" pitchFamily="34" charset="0"/>
                <a:ea typeface="Arial" pitchFamily="34" charset="-122"/>
                <a:cs typeface="Arial" pitchFamily="34" charset="-120"/>
              </a:rPr>
              <a:t>Finding no named film partner is weak evidence: plenty of companies never publish supplier relationships. The dashboard shows the difference rather than hiding it.</a:t>
            </a:r>
            <a:endParaRPr lang="en-US" sz="1350" dirty="0"/>
          </a:p>
        </p:txBody>
      </p:sp>
      <p:sp>
        <p:nvSpPr>
          <p:cNvPr id="10" name="Shape 8"/>
          <p:cNvSpPr/>
          <p:nvPr/>
        </p:nvSpPr>
        <p:spPr>
          <a:xfrm>
            <a:off x="777240" y="4617720"/>
            <a:ext cx="82296" cy="1143000"/>
          </a:xfrm>
          <a:prstGeom prst="rect">
            <a:avLst/>
          </a:prstGeom>
          <a:solidFill>
            <a:srgbClr val="4B3BD6"/>
          </a:solidFill>
          <a:ln/>
        </p:spPr>
      </p:sp>
      <p:sp>
        <p:nvSpPr>
          <p:cNvPr id="11" name="Text 9"/>
          <p:cNvSpPr/>
          <p:nvPr/>
        </p:nvSpPr>
        <p:spPr>
          <a:xfrm>
            <a:off x="1097280" y="4617720"/>
            <a:ext cx="10058400" cy="320040"/>
          </a:xfrm>
          <a:prstGeom prst="rect">
            <a:avLst/>
          </a:prstGeom>
          <a:noFill/>
          <a:ln/>
        </p:spPr>
        <p:txBody>
          <a:bodyPr wrap="square" lIns="0" tIns="0" rIns="0" bIns="0" rtlCol="0" anchor="ctr"/>
          <a:lstStyle/>
          <a:p>
            <a:pPr indent="0" marL="0">
              <a:buNone/>
            </a:pPr>
            <a:r>
              <a:rPr lang="en-US" sz="1700" b="1" dirty="0">
                <a:solidFill>
                  <a:srgbClr val="14161A"/>
                </a:solidFill>
                <a:latin typeface="Arial" pitchFamily="34" charset="0"/>
                <a:ea typeface="Arial" pitchFamily="34" charset="-122"/>
                <a:cs typeface="Arial" pitchFamily="34" charset="-120"/>
              </a:rPr>
              <a:t>India was chosen, tested, and dropped as a source</a:t>
            </a:r>
            <a:endParaRPr lang="en-US" sz="1700" dirty="0"/>
          </a:p>
        </p:txBody>
      </p:sp>
      <p:sp>
        <p:nvSpPr>
          <p:cNvPr id="12" name="Text 10"/>
          <p:cNvSpPr/>
          <p:nvPr/>
        </p:nvSpPr>
        <p:spPr>
          <a:xfrm>
            <a:off x="1097280" y="4983480"/>
            <a:ext cx="10058400" cy="777240"/>
          </a:xfrm>
          <a:prstGeom prst="rect">
            <a:avLst/>
          </a:prstGeom>
          <a:noFill/>
          <a:ln/>
        </p:spPr>
        <p:txBody>
          <a:bodyPr wrap="square" lIns="0" tIns="0" rIns="0" bIns="0" rtlCol="0" anchor="ctr"/>
          <a:lstStyle/>
          <a:p>
            <a:pPr indent="0" marL="0">
              <a:lnSpc>
                <a:spcPts val="1800"/>
              </a:lnSpc>
              <a:buNone/>
            </a:pPr>
            <a:r>
              <a:rPr lang="en-US" sz="1350" dirty="0">
                <a:solidFill>
                  <a:srgbClr val="4A5058"/>
                </a:solidFill>
                <a:latin typeface="Arial" pitchFamily="34" charset="0"/>
                <a:ea typeface="Arial" pitchFamily="34" charset="-122"/>
                <a:cs typeface="Arial" pitchFamily="34" charset="-120"/>
              </a:rPr>
              <a:t>The directories are public and in English, but render client-side and return nothing, and the exhibitor mix skews to equipment vendors the ICP filters out. Availability and relevance are different tests, and only the first had been run.</a:t>
            </a:r>
            <a:endParaRPr lang="en-US" sz="1350" dirty="0"/>
          </a:p>
        </p:txBody>
      </p:sp>
      <p:sp>
        <p:nvSpPr>
          <p:cNvPr id="13" name="Text 11"/>
          <p:cNvSpPr/>
          <p:nvPr/>
        </p:nvSpPr>
        <p:spPr>
          <a:xfrm>
            <a:off x="777240" y="5943600"/>
            <a:ext cx="10515600" cy="548640"/>
          </a:xfrm>
          <a:prstGeom prst="rect">
            <a:avLst/>
          </a:prstGeom>
          <a:noFill/>
          <a:ln/>
        </p:spPr>
        <p:txBody>
          <a:bodyPr wrap="square" lIns="0" tIns="0" rIns="0" bIns="0" rtlCol="0" anchor="ctr"/>
          <a:lstStyle/>
          <a:p>
            <a:pPr indent="0" marL="0">
              <a:lnSpc>
                <a:spcPts val="1800"/>
              </a:lnSpc>
              <a:buNone/>
            </a:pPr>
            <a:r>
              <a:rPr lang="en-US" sz="1300" i="1" dirty="0">
                <a:solidFill>
                  <a:srgbClr val="7D848D"/>
                </a:solidFill>
                <a:latin typeface="Arial" pitchFamily="34" charset="0"/>
                <a:ea typeface="Arial" pitchFamily="34" charset="-122"/>
                <a:cs typeface="Arial" pitchFamily="34" charset="-120"/>
              </a:rPr>
              <a:t>A run of 120 enrichments was lost to an unguarded merge step. Two structural changes came out of it: results are journaled as they arrive, and every model response is cached, so the pipeline now replays end to end for nothing.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2026-08-18T18:16:01Z</dcterms:created>
  <dcterms:modified xsi:type="dcterms:W3CDTF">2026-08-18T18:16:01Z</dcterms:modified>
</cp:coreProperties>
</file>